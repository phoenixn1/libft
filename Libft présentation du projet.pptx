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projet Libft de l’école 42, d’après le sujet en version 19.3. On voit d’abord ce que c’est et pourquoi 42 le donne, puis les règles communes et les contraintes techniques, les trois parties du projet avec leurs pièges, le Makefile, le README, l’évaluation et enfin les règles sur l’usage de l’IA. Le total de 43 fonctions se décompose en 23 fonctions de la libc, 11 fonctions additionnelles et 9 fonctions de liste chaînée.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Libft est le projet où tu construis ta propre bibliothèque de fonctions C. Le résultat est un fichier libft.a, une archive de fichiers objets créée avec la commande ar, à la racine du dépôt. Le schéma montre la chaîne de fabrication : les fichiers ft_*.c sont compilés avec cc et les flags -Wall -Wextra -Werror, ce qui produit des fichiers .o, puis ar les rassemble dans libft.a. Plus tard dans le cursus, certains projets autorisent l’usage de ta libft : il faut alors copier ses sources et son Makefile dans un dossier libft, et le Makefile du projet doit d’abord compiler la bibliothèque.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explique que la programmation en C est pénible sans les fonctions standard, et que le projet aide à comprendre comment elles marchent en les réimplémentant. Mais l’intérêt va plus loin : c’est le premier projet du tronc commun, celui qui pose les fondations. On y apprend les pointeurs et la mémoire, la rigueur de la norme, l’outillage avec le Makefile et ar, et on se constitue une bibliothèque réutilisable. La partie sur l’IA du sujet insiste sur le fait que le parcours compte plus que le résultat : on doit pouvoir expliquer chaque ligne pendant l’évaluation.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règles viennent du chapitre « Common Instructions » du sujet. Trois d’entre elles font perdre toute la note : une erreur de norme, un crash, et, de façon générale, une fuite mémoire jugée non tolérée. Le Makefile ne doit pas relinker inutilement : si rien n’a changé, make ne refait rien. Les tests ne sont pas rendus, mais le sujet les encourage car on peut les utiliser pendant la défense, les siens comme ceux du pair qui évalue. Seul le contenu du dépôt Git est évalué, et si Deepthought corrige le projet, cela se passe après les évaluations par les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contraintes figurent dans la section « Technical considerations » du sujet. Les fonctions auxiliaires doivent être static : cela évite qu’elles soient visibles depuis d’autres fichiers de la bibliothèque. Le mot-clé restrict appartient à C99, et le sujet interdit de l’écrire dans tes prototypes comme de compiler avec -std=c99, même si certaines fonctions de la libc l’utilisent dans leur prototype officiel. Enfin, ar doit être utilisé pour créer l’archive, et libft.a doit se trouver à la racine du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reprend l’encadré de présentation du chapitre « Mandatory part ». Les fichiers à rendre sont le Makefile, le header libft.h et les fichiers ft_*.c, plus le README.md exigé par le chapitre suivant. Aucune fonction externe n’est autorisée pour la partie 1, hormis malloc pour calloc et strdup. Pour la partie 2, on utilise malloc, free et write ; pour la partie 3, malloc et free. La mention « Libft authorized : n/a » est logique : c’est ce projet-là qui produit la libft. Le sujet insiste en rouge sur l’emplacement des fichiers : tout à la racine du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chapitre obligatoire se découpe en trois parties. La partie 1 compte 23 fonctions : 21 sans allocation, plus calloc et strdup qui utilisent malloc. La partie 2 compte 11 fonctions : ft_substr, ft_strjoin, ft_strtrim, ft_split, ft_itoa, ft_strmapi, ft_striteri et les quatre fonctions d’écriture sur descripteur. La partie 3 compte 9 fonctions de liste chaînée. Le sujet précise que certaines fonctions de la partie 1 sont utiles pour écrire celles de la partie 2, par exemple ft_strlen ou ft_memcpy pour ft_strjoin.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23 fonctions sont regroupées ici par thème, pas dans l’ordre du sujet. Elles doivent reproduire exactement le comportement décrit dans la page man, y compris dans les cas limites. Les fonctions de cette partie ne doivent s’appuyer sur aucune fonction externe, sauf calloc et strdup qui utilisent malloc. Les fonctions de classification (isalpha, isdigit, isalnum, isascii, isprint) retournent 1 si le caractère appartient à la classe et 0 sinon, ce qui peut différer de la libc système qui retourne parfois une autre valeur non nulle.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regroupe les points que les évaluateurs testent le plus souvent. Pour memmove, si la destination est avant la source on copie du début vers la fin, sinon de la fin vers le début. Pour strlcpy et strlcat, la valeur retournée permet de détecter une troncature : si elle est supérieure ou égale à size, la chaîne a été coupée. Pour calloc, le sujet impose une règle précise quand nmemb ou size vaut 0, car le comportement dépend du système. Enfin, strlcpy, strlcat et bzero ne sont pas fournies par défaut par glibc : pour comparer avec la version système, le sujet indique d’inclure bsd/string.h et de compiler avec -lbsd.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onze fonctions n’existent pas dans la libc, ou existent sous une autre forme. Sept d’entre elles retournent une chaîne ou un tableau alloué avec malloc : en cas d’échec d’allocation, elles retournent NULL. ft_split est la plus délicate car elle alloue un tableau de chaînes terminé par NULL : si une allocation échoue en cours de route, il faut libérer tout ce qui a déjà été alloué. ft_striteri modifie la chaîne en place et ne retourne rien, contrairement à ft_strmapi qui crée une nouvelle chaîne. Les quatre fonctions put*_fd écrivent sur le descripteur donné, avec write uniquement.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quatre fonctions concentrent la plupart des cas limites de la partie 2. Pour ft_substr, il faut décider quoi retourner quand start dépasse la chaîne : une chaîne vide allouée est la réponse attendue, pas NULL, qui est réservé à l’échec d’allocation. Pour ft_split, penser aux séparateurs au début, à la fin et consécutifs, ainsi qu’à la libération complète en cas d’échec. Pour ft_itoa et ft_putnbr_fd, INT_MIN est le piège : sa valeur absolue ne tient pas dans un int, donc on passe par un type plus large, un traitement chiffre par chiffre ou un cas particulier.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structure t_list est fournie par le sujet et doit être ajoutée à libft.h. Elle contient un content de type void *, qui permet de stocker n’importe quel type de donnée, et un next qui pointe vers le nœud suivant ou vaut NULL pour le dernier. Les neuf fonctions se regroupent en trois familles. Deux idées reviennent partout : le double pointeur, nécessaire pour les fonctions qui peuvent changer la tête de liste (ft_lstadd_front, ft_lstadd_back, ft_lstclear), et le paramètre del, qui permet à l’appelant de dire comment libérer le contenu puisque la liste ne le sait pas. Ces fonctions sont détaillées dans la présentation consacrée aux listes chaînées.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Makefile est un exemple minimal qui respecte les exigences du sujet : cc avec -Wall -Wextra -Werror, les règles NAME, all, clean, fclean et re, et la création de l’archive avec ar. La liste SRCS est abrégée ici : dans ton projet, elle doit contenir tous tes fichiers ft_*.c. La règle %.o dépend du header libft.h, ce qui recompile les objets quand le header change, et si rien n’a changé, make ne refait rien, donc pas de relink inutile. Si tu rends des bonus, il faut ajouter une règle bonus et placer les fichiers dans des fichiers _bonus.c et _bonus.h, sauf indication contraire du sujet. Dans le vrai Makefile, les lignes de recette commencent par une tabulation.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B1F24"/>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9041"/>
            <a:ext cx="10566400" cy="4196159"/>
          </a:xfrm>
          <a:prstGeom prst="rect">
            <a:avLst/>
          </a:prstGeom>
          <a:noFill/>
          <a:ln/>
        </p:spPr>
        <p:txBody>
          <a:bodyPr wrap="square" lIns="0" tIns="0" rIns="0" bIns="0" rtlCol="0" anchor="t"/>
          <a:lstStyle>
            <a:lvl1pPr algn="l" indent="0" marL="0">
              <a:lnSpc>
                <a:spcPct val="140000"/>
              </a:lnSpc>
              <a:buNone/>
              <a:defRPr lang="en-US" sz="1600" dirty="0">
                <a:solidFill>
                  <a:srgbClr val="1B1F24"/>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B1F24"/>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9041"/>
            <a:ext cx="10566400" cy="4196159"/>
          </a:xfrm>
          <a:prstGeom prst="rect">
            <a:avLst/>
          </a:prstGeom>
          <a:noFill/>
          <a:ln/>
        </p:spPr>
        <p:txBody>
          <a:bodyPr wrap="square" lIns="0" tIns="0" rIns="0" bIns="0" rtlCol="0" anchor="t"/>
          <a:lstStyle>
            <a:lvl1pPr algn="l" indent="0" marL="0">
              <a:lnSpc>
                <a:spcPct val="140000"/>
              </a:lnSpc>
              <a:buNone/>
              <a:defRPr lang="en-US" sz="1600" dirty="0">
                <a:solidFill>
                  <a:srgbClr val="1B1F24"/>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Arial" pitchFamily="34" charset="0"/>
                <a:ea typeface="Arial" pitchFamily="34" charset="-122"/>
                <a:cs typeface="Arial" pitchFamily="34" charset="-120"/>
              </a:rPr>
              <a:t>ÉCOLE 42 · TRONC COMMUN · SUJET V19.3</a:t>
            </a:r>
            <a:endParaRPr lang="en-US" sz="1200" dirty="0"/>
          </a:p>
        </p:txBody>
      </p:sp>
      <p:sp>
        <p:nvSpPr>
          <p:cNvPr id="3" name="Text 1"/>
          <p:cNvSpPr/>
          <p:nvPr>
            <p:ph type="title"/>
          </p:nvPr>
        </p:nvSpPr>
        <p:spPr>
          <a:xfrm>
            <a:off x="812800" y="234067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5F3EE"/>
                </a:solidFill>
                <a:latin typeface="Arial" pitchFamily="34" charset="0"/>
                <a:ea typeface="Arial" pitchFamily="34" charset="-122"/>
                <a:cs typeface="Arial" pitchFamily="34" charset="-120"/>
              </a:rPr>
              <a:t>Libft</a:t>
            </a:r>
            <a:endParaRPr lang="en-US" sz="4800" dirty="0"/>
          </a:p>
        </p:txBody>
      </p:sp>
      <p:sp>
        <p:nvSpPr>
          <p:cNvPr id="4" name="Text 2"/>
          <p:cNvSpPr/>
          <p:nvPr/>
        </p:nvSpPr>
        <p:spPr>
          <a:xfrm>
            <a:off x="812800" y="3158530"/>
            <a:ext cx="78486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AA4B1"/>
                </a:solidFill>
                <a:latin typeface="Arial" pitchFamily="34" charset="0"/>
                <a:ea typeface="Arial" pitchFamily="34" charset="-122"/>
                <a:cs typeface="Arial" pitchFamily="34" charset="-120"/>
              </a:rPr>
              <a:t>Ta première bibliothèque C : 43 fonctions, un Makefile et un README, à rendre sans crash ni fuite mémoire.</a:t>
            </a:r>
            <a:endParaRPr lang="en-US" sz="1600" dirty="0"/>
          </a:p>
        </p:txBody>
      </p:sp>
      <p:sp>
        <p:nvSpPr>
          <p:cNvPr id="5" name="Shape 3"/>
          <p:cNvSpPr/>
          <p:nvPr/>
        </p:nvSpPr>
        <p:spPr>
          <a:xfrm>
            <a:off x="812800" y="5041999"/>
            <a:ext cx="3420467" cy="1003201"/>
          </a:xfrm>
          <a:prstGeom prst="roundRect">
            <a:avLst>
              <a:gd name="adj" fmla="val 7596"/>
            </a:avLst>
          </a:prstGeom>
          <a:solidFill>
            <a:srgbClr val="1C222B"/>
          </a:solidFill>
          <a:ln/>
        </p:spPr>
      </p:sp>
      <p:sp>
        <p:nvSpPr>
          <p:cNvPr id="6" name="Shape 4"/>
          <p:cNvSpPr/>
          <p:nvPr/>
        </p:nvSpPr>
        <p:spPr>
          <a:xfrm>
            <a:off x="812800" y="5041999"/>
            <a:ext cx="3420467" cy="1003201"/>
          </a:xfrm>
          <a:custGeom>
            <a:avLst/>
            <a:gdLst/>
            <a:ahLst/>
            <a:cxnLst/>
            <a:rect l="l" t="t" r="r" b="b"/>
            <a:pathLst>
              <a:path w="3420467" h="1003201">
                <a:moveTo>
                  <a:pt x="76200" y="1003201"/>
                </a:moveTo>
                <a:lnTo>
                  <a:pt x="76200" y="1003201"/>
                </a:lnTo>
                <a:arcTo hR="76200" wR="76200" stAng="5400000" swAng="5400000"/>
                <a:lnTo>
                  <a:pt x="0" y="76200"/>
                </a:lnTo>
                <a:arcTo hR="76200" wR="76200" stAng="10800000" swAng="5400000"/>
                <a:lnTo>
                  <a:pt x="76200" y="0"/>
                </a:lnTo>
                <a:arcTo hR="76200" wR="38100" stAng="16200000" swAng="-5400000"/>
                <a:lnTo>
                  <a:pt x="38100" y="927001"/>
                </a:lnTo>
                <a:arcTo hR="76200" wR="38100" stAng="10800000" swAng="-5400000"/>
                <a:close/>
              </a:path>
            </a:pathLst>
          </a:custGeom>
          <a:solidFill>
            <a:srgbClr val="E9A23B"/>
          </a:solidFill>
          <a:ln/>
        </p:spPr>
      </p:sp>
      <p:sp>
        <p:nvSpPr>
          <p:cNvPr id="7" name="Text 5"/>
          <p:cNvSpPr/>
          <p:nvPr/>
        </p:nvSpPr>
        <p:spPr>
          <a:xfrm>
            <a:off x="1028700" y="5194399"/>
            <a:ext cx="311757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E9A23B"/>
                </a:solidFill>
                <a:latin typeface="Arial" pitchFamily="34" charset="0"/>
                <a:ea typeface="Arial" pitchFamily="34" charset="-122"/>
                <a:cs typeface="Arial" pitchFamily="34" charset="-120"/>
              </a:rPr>
              <a:t>23</a:t>
            </a:r>
            <a:endParaRPr lang="en-US" sz="3200" dirty="0"/>
          </a:p>
        </p:txBody>
      </p:sp>
      <p:sp>
        <p:nvSpPr>
          <p:cNvPr id="8" name="Text 6"/>
          <p:cNvSpPr/>
          <p:nvPr/>
        </p:nvSpPr>
        <p:spPr>
          <a:xfrm>
            <a:off x="1028700" y="5679480"/>
            <a:ext cx="31175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6E1"/>
                </a:solidFill>
                <a:latin typeface="Arial" pitchFamily="34" charset="0"/>
                <a:ea typeface="Arial" pitchFamily="34" charset="-122"/>
                <a:cs typeface="Arial" pitchFamily="34" charset="-120"/>
              </a:rPr>
              <a:t>fonctions de la libc</a:t>
            </a:r>
            <a:endParaRPr lang="en-US" sz="1200" dirty="0"/>
          </a:p>
        </p:txBody>
      </p:sp>
      <p:sp>
        <p:nvSpPr>
          <p:cNvPr id="9" name="Shape 7"/>
          <p:cNvSpPr/>
          <p:nvPr/>
        </p:nvSpPr>
        <p:spPr>
          <a:xfrm>
            <a:off x="4385667" y="5041999"/>
            <a:ext cx="3420566" cy="1003201"/>
          </a:xfrm>
          <a:prstGeom prst="roundRect">
            <a:avLst>
              <a:gd name="adj" fmla="val 7596"/>
            </a:avLst>
          </a:prstGeom>
          <a:solidFill>
            <a:srgbClr val="1C222B"/>
          </a:solidFill>
          <a:ln/>
        </p:spPr>
      </p:sp>
      <p:sp>
        <p:nvSpPr>
          <p:cNvPr id="10" name="Shape 8"/>
          <p:cNvSpPr/>
          <p:nvPr/>
        </p:nvSpPr>
        <p:spPr>
          <a:xfrm>
            <a:off x="4385667" y="5041999"/>
            <a:ext cx="3420566" cy="1003201"/>
          </a:xfrm>
          <a:custGeom>
            <a:avLst/>
            <a:gdLst/>
            <a:ahLst/>
            <a:cxnLst/>
            <a:rect l="l" t="t" r="r" b="b"/>
            <a:pathLst>
              <a:path w="3420566" h="1003201">
                <a:moveTo>
                  <a:pt x="76200" y="1003201"/>
                </a:moveTo>
                <a:lnTo>
                  <a:pt x="76200" y="1003201"/>
                </a:lnTo>
                <a:arcTo hR="76200" wR="76200" stAng="5400000" swAng="5400000"/>
                <a:lnTo>
                  <a:pt x="0" y="76200"/>
                </a:lnTo>
                <a:arcTo hR="76200" wR="76200" stAng="10800000" swAng="5400000"/>
                <a:lnTo>
                  <a:pt x="76200" y="0"/>
                </a:lnTo>
                <a:arcTo hR="76200" wR="38100" stAng="16200000" swAng="-5400000"/>
                <a:lnTo>
                  <a:pt x="38100" y="927001"/>
                </a:lnTo>
                <a:arcTo hR="76200" wR="38100" stAng="10800000" swAng="-5400000"/>
                <a:close/>
              </a:path>
            </a:pathLst>
          </a:custGeom>
          <a:solidFill>
            <a:srgbClr val="E9A23B"/>
          </a:solidFill>
          <a:ln/>
        </p:spPr>
      </p:sp>
      <p:sp>
        <p:nvSpPr>
          <p:cNvPr id="11" name="Text 9"/>
          <p:cNvSpPr/>
          <p:nvPr/>
        </p:nvSpPr>
        <p:spPr>
          <a:xfrm>
            <a:off x="4601567" y="5194399"/>
            <a:ext cx="311767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E9A23B"/>
                </a:solidFill>
                <a:latin typeface="Arial" pitchFamily="34" charset="0"/>
                <a:ea typeface="Arial" pitchFamily="34" charset="-122"/>
                <a:cs typeface="Arial" pitchFamily="34" charset="-120"/>
              </a:rPr>
              <a:t>11</a:t>
            </a:r>
            <a:endParaRPr lang="en-US" sz="3200" dirty="0"/>
          </a:p>
        </p:txBody>
      </p:sp>
      <p:sp>
        <p:nvSpPr>
          <p:cNvPr id="12" name="Text 10"/>
          <p:cNvSpPr/>
          <p:nvPr/>
        </p:nvSpPr>
        <p:spPr>
          <a:xfrm>
            <a:off x="4601567" y="5679480"/>
            <a:ext cx="31176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6E1"/>
                </a:solidFill>
                <a:latin typeface="Arial" pitchFamily="34" charset="0"/>
                <a:ea typeface="Arial" pitchFamily="34" charset="-122"/>
                <a:cs typeface="Arial" pitchFamily="34" charset="-120"/>
              </a:rPr>
              <a:t>fonctions additionnelles</a:t>
            </a:r>
            <a:endParaRPr lang="en-US" sz="1200" dirty="0"/>
          </a:p>
        </p:txBody>
      </p:sp>
      <p:sp>
        <p:nvSpPr>
          <p:cNvPr id="13" name="Shape 11"/>
          <p:cNvSpPr/>
          <p:nvPr/>
        </p:nvSpPr>
        <p:spPr>
          <a:xfrm>
            <a:off x="7958634" y="5041999"/>
            <a:ext cx="3420566" cy="1003201"/>
          </a:xfrm>
          <a:prstGeom prst="roundRect">
            <a:avLst>
              <a:gd name="adj" fmla="val 7596"/>
            </a:avLst>
          </a:prstGeom>
          <a:solidFill>
            <a:srgbClr val="1C222B"/>
          </a:solidFill>
          <a:ln/>
        </p:spPr>
      </p:sp>
      <p:sp>
        <p:nvSpPr>
          <p:cNvPr id="14" name="Shape 12"/>
          <p:cNvSpPr/>
          <p:nvPr/>
        </p:nvSpPr>
        <p:spPr>
          <a:xfrm>
            <a:off x="7958634" y="5041999"/>
            <a:ext cx="3420566" cy="1003201"/>
          </a:xfrm>
          <a:custGeom>
            <a:avLst/>
            <a:gdLst/>
            <a:ahLst/>
            <a:cxnLst/>
            <a:rect l="l" t="t" r="r" b="b"/>
            <a:pathLst>
              <a:path w="3420566" h="1003201">
                <a:moveTo>
                  <a:pt x="76200" y="1003201"/>
                </a:moveTo>
                <a:lnTo>
                  <a:pt x="76200" y="1003201"/>
                </a:lnTo>
                <a:arcTo hR="76200" wR="76200" stAng="5400000" swAng="5400000"/>
                <a:lnTo>
                  <a:pt x="0" y="76200"/>
                </a:lnTo>
                <a:arcTo hR="76200" wR="76200" stAng="10800000" swAng="5400000"/>
                <a:lnTo>
                  <a:pt x="76200" y="0"/>
                </a:lnTo>
                <a:arcTo hR="76200" wR="38100" stAng="16200000" swAng="-5400000"/>
                <a:lnTo>
                  <a:pt x="38100" y="927001"/>
                </a:lnTo>
                <a:arcTo hR="76200" wR="38100" stAng="10800000" swAng="-5400000"/>
                <a:close/>
              </a:path>
            </a:pathLst>
          </a:custGeom>
          <a:solidFill>
            <a:srgbClr val="E9A23B"/>
          </a:solidFill>
          <a:ln/>
        </p:spPr>
      </p:sp>
      <p:sp>
        <p:nvSpPr>
          <p:cNvPr id="15" name="Text 13"/>
          <p:cNvSpPr/>
          <p:nvPr/>
        </p:nvSpPr>
        <p:spPr>
          <a:xfrm>
            <a:off x="8174534" y="5194399"/>
            <a:ext cx="311767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E9A23B"/>
                </a:solidFill>
                <a:latin typeface="Arial" pitchFamily="34" charset="0"/>
                <a:ea typeface="Arial" pitchFamily="34" charset="-122"/>
                <a:cs typeface="Arial" pitchFamily="34" charset="-120"/>
              </a:rPr>
              <a:t>9</a:t>
            </a:r>
            <a:endParaRPr lang="en-US" sz="3200" dirty="0"/>
          </a:p>
        </p:txBody>
      </p:sp>
      <p:sp>
        <p:nvSpPr>
          <p:cNvPr id="16" name="Text 14"/>
          <p:cNvSpPr/>
          <p:nvPr/>
        </p:nvSpPr>
        <p:spPr>
          <a:xfrm>
            <a:off x="8174534" y="5679480"/>
            <a:ext cx="31176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6E1"/>
                </a:solidFill>
                <a:latin typeface="Arial" pitchFamily="34" charset="0"/>
                <a:ea typeface="Arial" pitchFamily="34" charset="-122"/>
                <a:cs typeface="Arial" pitchFamily="34" charset="-120"/>
              </a:rPr>
              <a:t>fonctions de liste chaînée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LE CONTEXTE</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Qu’est-ce que Libft ?</a:t>
            </a:r>
            <a:endParaRPr lang="en-US" sz="3200" dirty="0"/>
          </a:p>
        </p:txBody>
      </p:sp>
      <p:sp>
        <p:nvSpPr>
          <p:cNvPr id="4" name="Text 2"/>
          <p:cNvSpPr/>
          <p:nvPr/>
        </p:nvSpPr>
        <p:spPr>
          <a:xfrm>
            <a:off x="812800" y="1747441"/>
            <a:ext cx="98107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24"/>
                </a:solidFill>
                <a:latin typeface="Arial" pitchFamily="34" charset="0"/>
                <a:ea typeface="Arial" pitchFamily="34" charset="-122"/>
                <a:cs typeface="Arial" pitchFamily="34" charset="-120"/>
              </a:rPr>
              <a:t>Une bibliothèque statique.</a:t>
            </a:r>
            <a:r>
              <a:rPr lang="en-US" sz="1600" dirty="0">
                <a:solidFill>
                  <a:srgbClr val="1B1F24"/>
                </a:solidFill>
                <a:latin typeface="Arial" pitchFamily="34" charset="0"/>
                <a:ea typeface="Arial" pitchFamily="34" charset="-122"/>
                <a:cs typeface="Arial" pitchFamily="34" charset="-120"/>
              </a:rPr>
              <a:t> libft.a réunit des fonctions que tu réécris toi-même.</a:t>
            </a:r>
            <a:endParaRPr lang="en-US" sz="1600" dirty="0"/>
          </a:p>
        </p:txBody>
      </p:sp>
      <p:sp>
        <p:nvSpPr>
          <p:cNvPr id="5" name="Text 3"/>
          <p:cNvSpPr/>
          <p:nvPr/>
        </p:nvSpPr>
        <p:spPr>
          <a:xfrm>
            <a:off x="812800" y="2158901"/>
            <a:ext cx="98107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24"/>
                </a:solidFill>
                <a:latin typeface="Arial" pitchFamily="34" charset="0"/>
                <a:ea typeface="Arial" pitchFamily="34" charset="-122"/>
                <a:cs typeface="Arial" pitchFamily="34" charset="-120"/>
              </a:rPr>
              <a:t>Un outil pour la suite.</a:t>
            </a:r>
            <a:r>
              <a:rPr lang="en-US" sz="1600" dirty="0">
                <a:solidFill>
                  <a:srgbClr val="1B1F24"/>
                </a:solidFill>
                <a:latin typeface="Arial" pitchFamily="34" charset="0"/>
                <a:ea typeface="Arial" pitchFamily="34" charset="-122"/>
                <a:cs typeface="Arial" pitchFamily="34" charset="-120"/>
              </a:rPr>
              <a:t> Le sujet la présente comme utile pour tes futurs projets d’école en C.</a:t>
            </a:r>
            <a:endParaRPr lang="en-US" sz="1600" dirty="0"/>
          </a:p>
        </p:txBody>
      </p:sp>
      <p:sp>
        <p:nvSpPr>
          <p:cNvPr id="6" name="Text 4"/>
          <p:cNvSpPr/>
          <p:nvPr/>
        </p:nvSpPr>
        <p:spPr>
          <a:xfrm>
            <a:off x="812800" y="2570361"/>
            <a:ext cx="981075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24"/>
                </a:solidFill>
                <a:latin typeface="Arial" pitchFamily="34" charset="0"/>
                <a:ea typeface="Arial" pitchFamily="34" charset="-122"/>
                <a:cs typeface="Arial" pitchFamily="34" charset="-120"/>
              </a:rPr>
              <a:t>Trois familles.</a:t>
            </a:r>
            <a:r>
              <a:rPr lang="en-US" sz="1600" dirty="0">
                <a:solidFill>
                  <a:srgbClr val="1B1F24"/>
                </a:solidFill>
                <a:latin typeface="Arial" pitchFamily="34" charset="0"/>
                <a:ea typeface="Arial" pitchFamily="34" charset="-122"/>
                <a:cs typeface="Arial" pitchFamily="34" charset="-120"/>
              </a:rPr>
              <a:t> Des fonctions de la libc, des fonctions additionnelles et une bibliothèque de listes chaînées.</a:t>
            </a:r>
            <a:endParaRPr lang="en-US" sz="1600" dirty="0"/>
          </a:p>
        </p:txBody>
      </p:sp>
      <p:sp>
        <p:nvSpPr>
          <p:cNvPr id="7" name="Text 5"/>
          <p:cNvSpPr/>
          <p:nvPr/>
        </p:nvSpPr>
        <p:spPr>
          <a:xfrm>
            <a:off x="822325" y="3352006"/>
            <a:ext cx="1314450" cy="539750"/>
          </a:xfrm>
          <a:prstGeom prst="roundRect">
            <a:avLst>
              <a:gd name="adj" fmla="val 12353"/>
            </a:avLst>
          </a:prstGeom>
          <a:solidFill>
            <a:srgbClr val="FBFAF7"/>
          </a:solidFill>
          <a:ln w="19050">
            <a:solidFill>
              <a:srgbClr val="1B1F24"/>
            </a:solidFill>
            <a:prstDash val="solid"/>
          </a:ln>
        </p:spPr>
        <p:txBody>
          <a:bodyPr wrap="square" lIns="0" tIns="0" rIns="0" bIns="0" rtlCol="0" anchor="ctr">
            <a:normAutofit/>
          </a:bodyPr>
          <a:lstStyle/>
          <a:p>
            <a:pPr algn="ctr" indent="0" marL="0">
              <a:lnSpc>
                <a:spcPts val="1680"/>
              </a:lnSpc>
              <a:buNone/>
            </a:pPr>
            <a:r>
              <a:rPr lang="en-US" sz="1200" b="1" dirty="0">
                <a:solidFill>
                  <a:srgbClr val="1B1F24"/>
                </a:solidFill>
                <a:latin typeface="Courier New" pitchFamily="49" charset="0"/>
                <a:ea typeface="Courier New" pitchFamily="49" charset="-122"/>
                <a:cs typeface="Courier New" pitchFamily="49" charset="-120"/>
              </a:rPr>
              <a:t>ft_*.c</a:t>
            </a:r>
            <a:endParaRPr lang="en-US" sz="1200" dirty="0"/>
          </a:p>
        </p:txBody>
      </p:sp>
      <p:pic>
        <p:nvPicPr>
          <p:cNvPr id="8" name="Image 0" descr="arrow-right">    </p:cNvPr>
          <p:cNvPicPr>
            <a:picLocks noChangeAspect="1"/>
          </p:cNvPicPr>
          <p:nvPr/>
        </p:nvPicPr>
        <p:blipFill>
          <a:blip r:embed="rId1"/>
          <a:srcRect l="0" r="0" t="0" b="0"/>
          <a:stretch/>
        </p:blipFill>
        <p:spPr>
          <a:xfrm>
            <a:off x="2222500" y="3532981"/>
            <a:ext cx="355600" cy="177800"/>
          </a:xfrm>
          <a:prstGeom prst="rect">
            <a:avLst/>
          </a:prstGeom>
        </p:spPr>
      </p:pic>
      <p:sp>
        <p:nvSpPr>
          <p:cNvPr id="9" name="Text 6"/>
          <p:cNvSpPr/>
          <p:nvPr/>
        </p:nvSpPr>
        <p:spPr>
          <a:xfrm>
            <a:off x="2663825" y="3352006"/>
            <a:ext cx="2647950" cy="539750"/>
          </a:xfrm>
          <a:prstGeom prst="roundRect">
            <a:avLst>
              <a:gd name="adj" fmla="val 12353"/>
            </a:avLst>
          </a:prstGeom>
          <a:solidFill>
            <a:srgbClr val="FBFAF7"/>
          </a:solidFill>
          <a:ln w="19050">
            <a:solidFill>
              <a:srgbClr val="1B1F24"/>
            </a:solidFill>
            <a:prstDash val="solid"/>
          </a:ln>
        </p:spPr>
        <p:txBody>
          <a:bodyPr wrap="square" lIns="0" tIns="0" rIns="0" bIns="0" rtlCol="0" anchor="ctr">
            <a:normAutofit/>
          </a:bodyPr>
          <a:lstStyle/>
          <a:p>
            <a:pPr algn="ctr" indent="0" marL="0">
              <a:lnSpc>
                <a:spcPts val="1680"/>
              </a:lnSpc>
              <a:buNone/>
            </a:pPr>
            <a:r>
              <a:rPr lang="en-US" sz="1200" b="1" dirty="0">
                <a:solidFill>
                  <a:srgbClr val="1B1F24"/>
                </a:solidFill>
                <a:latin typeface="Courier New" pitchFamily="49" charset="0"/>
                <a:ea typeface="Courier New" pitchFamily="49" charset="-122"/>
                <a:cs typeface="Courier New" pitchFamily="49" charset="-120"/>
              </a:rPr>
              <a:t>cc -Wall -Wextra -Werror</a:t>
            </a:r>
            <a:endParaRPr lang="en-US" sz="1200" dirty="0"/>
          </a:p>
        </p:txBody>
      </p:sp>
      <p:pic>
        <p:nvPicPr>
          <p:cNvPr id="10" name="Image 1" descr="arrow-right">    </p:cNvPr>
          <p:cNvPicPr>
            <a:picLocks noChangeAspect="1"/>
          </p:cNvPicPr>
          <p:nvPr/>
        </p:nvPicPr>
        <p:blipFill>
          <a:blip r:embed="rId2"/>
          <a:srcRect l="0" r="0" t="0" b="0"/>
          <a:stretch/>
        </p:blipFill>
        <p:spPr>
          <a:xfrm>
            <a:off x="5397500" y="3532981"/>
            <a:ext cx="355600" cy="177800"/>
          </a:xfrm>
          <a:prstGeom prst="rect">
            <a:avLst/>
          </a:prstGeom>
        </p:spPr>
      </p:pic>
      <p:sp>
        <p:nvSpPr>
          <p:cNvPr id="11" name="Text 7"/>
          <p:cNvSpPr/>
          <p:nvPr/>
        </p:nvSpPr>
        <p:spPr>
          <a:xfrm>
            <a:off x="5838825" y="3352006"/>
            <a:ext cx="1314450" cy="539750"/>
          </a:xfrm>
          <a:prstGeom prst="roundRect">
            <a:avLst>
              <a:gd name="adj" fmla="val 12353"/>
            </a:avLst>
          </a:prstGeom>
          <a:solidFill>
            <a:srgbClr val="FBFAF7"/>
          </a:solidFill>
          <a:ln w="19050">
            <a:solidFill>
              <a:srgbClr val="1B1F24"/>
            </a:solidFill>
            <a:prstDash val="solid"/>
          </a:ln>
        </p:spPr>
        <p:txBody>
          <a:bodyPr wrap="square" lIns="0" tIns="0" rIns="0" bIns="0" rtlCol="0" anchor="ctr">
            <a:normAutofit/>
          </a:bodyPr>
          <a:lstStyle/>
          <a:p>
            <a:pPr algn="ctr" indent="0" marL="0">
              <a:lnSpc>
                <a:spcPts val="1680"/>
              </a:lnSpc>
              <a:buNone/>
            </a:pPr>
            <a:r>
              <a:rPr lang="en-US" sz="1200" b="1" dirty="0">
                <a:solidFill>
                  <a:srgbClr val="1B1F24"/>
                </a:solidFill>
                <a:latin typeface="Courier New" pitchFamily="49" charset="0"/>
                <a:ea typeface="Courier New" pitchFamily="49" charset="-122"/>
                <a:cs typeface="Courier New" pitchFamily="49" charset="-120"/>
              </a:rPr>
              <a:t>ft_*.o</a:t>
            </a:r>
            <a:endParaRPr lang="en-US" sz="1200" dirty="0"/>
          </a:p>
        </p:txBody>
      </p:sp>
      <p:pic>
        <p:nvPicPr>
          <p:cNvPr id="12" name="Image 2" descr="arrow-right">    </p:cNvPr>
          <p:cNvPicPr>
            <a:picLocks noChangeAspect="1"/>
          </p:cNvPicPr>
          <p:nvPr/>
        </p:nvPicPr>
        <p:blipFill>
          <a:blip r:embed="rId3"/>
          <a:srcRect l="0" r="0" t="0" b="0"/>
          <a:stretch/>
        </p:blipFill>
        <p:spPr>
          <a:xfrm>
            <a:off x="7239000" y="3532981"/>
            <a:ext cx="355600" cy="177800"/>
          </a:xfrm>
          <a:prstGeom prst="rect">
            <a:avLst/>
          </a:prstGeom>
        </p:spPr>
      </p:pic>
      <p:sp>
        <p:nvSpPr>
          <p:cNvPr id="13" name="Text 8"/>
          <p:cNvSpPr/>
          <p:nvPr/>
        </p:nvSpPr>
        <p:spPr>
          <a:xfrm>
            <a:off x="7670800" y="3342481"/>
            <a:ext cx="1333500" cy="558800"/>
          </a:xfrm>
          <a:prstGeom prst="roundRect">
            <a:avLst>
              <a:gd name="adj" fmla="val 13636"/>
            </a:avLst>
          </a:prstGeom>
          <a:solidFill>
            <a:srgbClr val="1B1F24"/>
          </a:solidFill>
          <a:ln/>
        </p:spPr>
        <p:txBody>
          <a:bodyPr wrap="square" lIns="0" tIns="0" rIns="0" bIns="0" rtlCol="0" anchor="ctr">
            <a:normAutofit/>
          </a:bodyPr>
          <a:lstStyle/>
          <a:p>
            <a:pPr algn="ctr" indent="0" marL="0">
              <a:lnSpc>
                <a:spcPts val="1680"/>
              </a:lnSpc>
              <a:buNone/>
            </a:pPr>
            <a:r>
              <a:rPr lang="en-US" sz="1200" b="1" dirty="0">
                <a:solidFill>
                  <a:srgbClr val="F5F3EE"/>
                </a:solidFill>
                <a:latin typeface="Courier New" pitchFamily="49" charset="0"/>
                <a:ea typeface="Courier New" pitchFamily="49" charset="-122"/>
                <a:cs typeface="Courier New" pitchFamily="49" charset="-120"/>
              </a:rPr>
              <a:t>ar rcs</a:t>
            </a:r>
            <a:endParaRPr lang="en-US" sz="1200" dirty="0"/>
          </a:p>
        </p:txBody>
      </p:sp>
      <p:pic>
        <p:nvPicPr>
          <p:cNvPr id="14" name="Image 3" descr="arrow-right">    </p:cNvPr>
          <p:cNvPicPr>
            <a:picLocks noChangeAspect="1"/>
          </p:cNvPicPr>
          <p:nvPr/>
        </p:nvPicPr>
        <p:blipFill>
          <a:blip r:embed="rId4"/>
          <a:srcRect l="0" r="0" t="0" b="0"/>
          <a:stretch/>
        </p:blipFill>
        <p:spPr>
          <a:xfrm>
            <a:off x="9080500" y="3532981"/>
            <a:ext cx="355600" cy="177800"/>
          </a:xfrm>
          <a:prstGeom prst="rect">
            <a:avLst/>
          </a:prstGeom>
        </p:spPr>
      </p:pic>
      <p:sp>
        <p:nvSpPr>
          <p:cNvPr id="15" name="Text 9"/>
          <p:cNvSpPr/>
          <p:nvPr/>
        </p:nvSpPr>
        <p:spPr>
          <a:xfrm>
            <a:off x="9521825" y="3352006"/>
            <a:ext cx="1441450" cy="539750"/>
          </a:xfrm>
          <a:prstGeom prst="roundRect">
            <a:avLst>
              <a:gd name="adj" fmla="val 12353"/>
            </a:avLst>
          </a:prstGeom>
          <a:solidFill>
            <a:srgbClr val="E9A23B"/>
          </a:solidFill>
          <a:ln w="19050">
            <a:solidFill>
              <a:srgbClr val="1B1F24"/>
            </a:solidFill>
            <a:prstDash val="solid"/>
          </a:ln>
        </p:spPr>
        <p:txBody>
          <a:bodyPr wrap="square" lIns="0" tIns="0" rIns="0" bIns="0" rtlCol="0" anchor="ctr">
            <a:normAutofit/>
          </a:bodyPr>
          <a:lstStyle/>
          <a:p>
            <a:pPr algn="ctr" indent="0" marL="0">
              <a:lnSpc>
                <a:spcPts val="1680"/>
              </a:lnSpc>
              <a:buNone/>
            </a:pPr>
            <a:r>
              <a:rPr lang="en-US" sz="1200" b="1" dirty="0">
                <a:solidFill>
                  <a:srgbClr val="1B1F24"/>
                </a:solidFill>
                <a:latin typeface="Courier New" pitchFamily="49" charset="0"/>
                <a:ea typeface="Courier New" pitchFamily="49" charset="-122"/>
                <a:cs typeface="Courier New" pitchFamily="49" charset="-120"/>
              </a:rPr>
              <a:t>libft.a</a:t>
            </a:r>
            <a:endParaRPr lang="en-US" sz="1200" dirty="0"/>
          </a:p>
        </p:txBody>
      </p:sp>
      <p:sp>
        <p:nvSpPr>
          <p:cNvPr id="16" name="Text 10"/>
          <p:cNvSpPr/>
          <p:nvPr/>
        </p:nvSpPr>
        <p:spPr>
          <a:xfrm>
            <a:off x="812800" y="400288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Chaque .c est compilé avec les flags exigés, puis archivé avec ar : libtool est interdit.</a:t>
            </a:r>
            <a:endParaRPr lang="en-US" sz="1200" dirty="0"/>
          </a:p>
        </p:txBody>
      </p:sp>
      <p:sp>
        <p:nvSpPr>
          <p:cNvPr id="17"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18" name="Text 1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LE CONTEXTE</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Pourquoi 42 donne ce projet</a:t>
            </a:r>
            <a:endParaRPr lang="en-US" sz="3200" dirty="0"/>
          </a:p>
        </p:txBody>
      </p:sp>
      <p:sp>
        <p:nvSpPr>
          <p:cNvPr id="4" name="Shape 2"/>
          <p:cNvSpPr/>
          <p:nvPr/>
        </p:nvSpPr>
        <p:spPr>
          <a:xfrm>
            <a:off x="815975" y="1750616"/>
            <a:ext cx="3414117" cy="1144091"/>
          </a:xfrm>
          <a:prstGeom prst="roundRect">
            <a:avLst>
              <a:gd name="adj" fmla="val 8603"/>
            </a:avLst>
          </a:prstGeom>
          <a:solidFill>
            <a:srgbClr val="FBFAF7"/>
          </a:solidFill>
          <a:ln w="6350">
            <a:solidFill>
              <a:srgbClr val="DAD6CC"/>
            </a:solidFill>
            <a:prstDash val="solid"/>
          </a:ln>
        </p:spPr>
      </p:sp>
      <p:sp>
        <p:nvSpPr>
          <p:cNvPr id="5" name="Text 3"/>
          <p:cNvSpPr/>
          <p:nvPr/>
        </p:nvSpPr>
        <p:spPr>
          <a:xfrm>
            <a:off x="996950" y="1931591"/>
            <a:ext cx="314373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Arial" pitchFamily="34" charset="0"/>
                <a:ea typeface="Arial" pitchFamily="34" charset="-122"/>
                <a:cs typeface="Arial" pitchFamily="34" charset="-120"/>
              </a:rPr>
              <a:t>Comprendre la libc</a:t>
            </a:r>
            <a:endParaRPr lang="en-US" sz="1600" dirty="0"/>
          </a:p>
        </p:txBody>
      </p:sp>
      <p:sp>
        <p:nvSpPr>
          <p:cNvPr id="6" name="Text 4"/>
          <p:cNvSpPr/>
          <p:nvPr/>
        </p:nvSpPr>
        <p:spPr>
          <a:xfrm>
            <a:off x="996950" y="2251571"/>
            <a:ext cx="314373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Réécrire strlen, memmove ou atoi montre ce que ces fonctions font vraiment.</a:t>
            </a:r>
            <a:endParaRPr lang="en-US" sz="1300" dirty="0"/>
          </a:p>
        </p:txBody>
      </p:sp>
      <p:sp>
        <p:nvSpPr>
          <p:cNvPr id="7" name="Shape 5"/>
          <p:cNvSpPr/>
          <p:nvPr/>
        </p:nvSpPr>
        <p:spPr>
          <a:xfrm>
            <a:off x="4388842" y="1750616"/>
            <a:ext cx="3414216" cy="1144091"/>
          </a:xfrm>
          <a:prstGeom prst="roundRect">
            <a:avLst>
              <a:gd name="adj" fmla="val 8603"/>
            </a:avLst>
          </a:prstGeom>
          <a:solidFill>
            <a:srgbClr val="FBFAF7"/>
          </a:solidFill>
          <a:ln w="6350">
            <a:solidFill>
              <a:srgbClr val="DAD6CC"/>
            </a:solidFill>
            <a:prstDash val="solid"/>
          </a:ln>
        </p:spPr>
      </p:sp>
      <p:sp>
        <p:nvSpPr>
          <p:cNvPr id="8" name="Text 6"/>
          <p:cNvSpPr/>
          <p:nvPr/>
        </p:nvSpPr>
        <p:spPr>
          <a:xfrm>
            <a:off x="4569817" y="1931591"/>
            <a:ext cx="314383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Arial" pitchFamily="34" charset="0"/>
                <a:ea typeface="Arial" pitchFamily="34" charset="-122"/>
                <a:cs typeface="Arial" pitchFamily="34" charset="-120"/>
              </a:rPr>
              <a:t>Maîtriser les bases</a:t>
            </a:r>
            <a:endParaRPr lang="en-US" sz="1600" dirty="0"/>
          </a:p>
        </p:txBody>
      </p:sp>
      <p:sp>
        <p:nvSpPr>
          <p:cNvPr id="9" name="Text 7"/>
          <p:cNvSpPr/>
          <p:nvPr/>
        </p:nvSpPr>
        <p:spPr>
          <a:xfrm>
            <a:off x="4569817" y="2251571"/>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Pointeurs, chaînes, malloc et free, pointeurs de fonctions.</a:t>
            </a:r>
            <a:endParaRPr lang="en-US" sz="1300" dirty="0"/>
          </a:p>
        </p:txBody>
      </p:sp>
      <p:sp>
        <p:nvSpPr>
          <p:cNvPr id="10" name="Shape 8"/>
          <p:cNvSpPr/>
          <p:nvPr/>
        </p:nvSpPr>
        <p:spPr>
          <a:xfrm>
            <a:off x="7961809" y="1750616"/>
            <a:ext cx="3414216" cy="1144091"/>
          </a:xfrm>
          <a:prstGeom prst="roundRect">
            <a:avLst>
              <a:gd name="adj" fmla="val 8603"/>
            </a:avLst>
          </a:prstGeom>
          <a:solidFill>
            <a:srgbClr val="FBFAF7"/>
          </a:solidFill>
          <a:ln w="6350">
            <a:solidFill>
              <a:srgbClr val="DAD6CC"/>
            </a:solidFill>
            <a:prstDash val="solid"/>
          </a:ln>
        </p:spPr>
      </p:sp>
      <p:sp>
        <p:nvSpPr>
          <p:cNvPr id="11" name="Text 9"/>
          <p:cNvSpPr/>
          <p:nvPr/>
        </p:nvSpPr>
        <p:spPr>
          <a:xfrm>
            <a:off x="8142784" y="1931591"/>
            <a:ext cx="314383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Arial" pitchFamily="34" charset="0"/>
                <a:ea typeface="Arial" pitchFamily="34" charset="-122"/>
                <a:cs typeface="Arial" pitchFamily="34" charset="-120"/>
              </a:rPr>
              <a:t>Gagner en rigueur</a:t>
            </a:r>
            <a:endParaRPr lang="en-US" sz="1600" dirty="0"/>
          </a:p>
        </p:txBody>
      </p:sp>
      <p:sp>
        <p:nvSpPr>
          <p:cNvPr id="12" name="Text 10"/>
          <p:cNvSpPr/>
          <p:nvPr/>
        </p:nvSpPr>
        <p:spPr>
          <a:xfrm>
            <a:off x="8142784" y="2251571"/>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Norme, zéro crash, zéro fuite : des habitudes de développeur.</a:t>
            </a:r>
            <a:endParaRPr lang="en-US" sz="1300" dirty="0"/>
          </a:p>
        </p:txBody>
      </p:sp>
      <p:sp>
        <p:nvSpPr>
          <p:cNvPr id="13" name="Shape 11"/>
          <p:cNvSpPr/>
          <p:nvPr/>
        </p:nvSpPr>
        <p:spPr>
          <a:xfrm>
            <a:off x="815975" y="3053457"/>
            <a:ext cx="3414117" cy="1144091"/>
          </a:xfrm>
          <a:prstGeom prst="roundRect">
            <a:avLst>
              <a:gd name="adj" fmla="val 8603"/>
            </a:avLst>
          </a:prstGeom>
          <a:solidFill>
            <a:srgbClr val="FBFAF7"/>
          </a:solidFill>
          <a:ln w="6350">
            <a:solidFill>
              <a:srgbClr val="DAD6CC"/>
            </a:solidFill>
            <a:prstDash val="solid"/>
          </a:ln>
        </p:spPr>
      </p:sp>
      <p:sp>
        <p:nvSpPr>
          <p:cNvPr id="14" name="Text 12"/>
          <p:cNvSpPr/>
          <p:nvPr/>
        </p:nvSpPr>
        <p:spPr>
          <a:xfrm>
            <a:off x="996950" y="3234432"/>
            <a:ext cx="314373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Arial" pitchFamily="34" charset="0"/>
                <a:ea typeface="Arial" pitchFamily="34" charset="-122"/>
                <a:cs typeface="Arial" pitchFamily="34" charset="-120"/>
              </a:rPr>
              <a:t>Apprendre l’outillage</a:t>
            </a:r>
            <a:endParaRPr lang="en-US" sz="1600" dirty="0"/>
          </a:p>
        </p:txBody>
      </p:sp>
      <p:sp>
        <p:nvSpPr>
          <p:cNvPr id="15" name="Text 13"/>
          <p:cNvSpPr/>
          <p:nvPr/>
        </p:nvSpPr>
        <p:spPr>
          <a:xfrm>
            <a:off x="996950" y="3554413"/>
            <a:ext cx="314373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Makefile, archive avec ar, dépôt Git, tests personnels.</a:t>
            </a:r>
            <a:endParaRPr lang="en-US" sz="1300" dirty="0"/>
          </a:p>
        </p:txBody>
      </p:sp>
      <p:sp>
        <p:nvSpPr>
          <p:cNvPr id="16" name="Shape 14"/>
          <p:cNvSpPr/>
          <p:nvPr/>
        </p:nvSpPr>
        <p:spPr>
          <a:xfrm>
            <a:off x="4388842" y="3053457"/>
            <a:ext cx="3414216" cy="1144091"/>
          </a:xfrm>
          <a:prstGeom prst="roundRect">
            <a:avLst>
              <a:gd name="adj" fmla="val 8603"/>
            </a:avLst>
          </a:prstGeom>
          <a:solidFill>
            <a:srgbClr val="FBFAF7"/>
          </a:solidFill>
          <a:ln w="6350">
            <a:solidFill>
              <a:srgbClr val="DAD6CC"/>
            </a:solidFill>
            <a:prstDash val="solid"/>
          </a:ln>
        </p:spPr>
      </p:sp>
      <p:sp>
        <p:nvSpPr>
          <p:cNvPr id="17" name="Text 15"/>
          <p:cNvSpPr/>
          <p:nvPr/>
        </p:nvSpPr>
        <p:spPr>
          <a:xfrm>
            <a:off x="4569817" y="3234432"/>
            <a:ext cx="314383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Arial" pitchFamily="34" charset="0"/>
                <a:ea typeface="Arial" pitchFamily="34" charset="-122"/>
                <a:cs typeface="Arial" pitchFamily="34" charset="-120"/>
              </a:rPr>
              <a:t>Une boîte à outils</a:t>
            </a:r>
            <a:endParaRPr lang="en-US" sz="1600" dirty="0"/>
          </a:p>
        </p:txBody>
      </p:sp>
      <p:sp>
        <p:nvSpPr>
          <p:cNvPr id="18" name="Text 16"/>
          <p:cNvSpPr/>
          <p:nvPr/>
        </p:nvSpPr>
        <p:spPr>
          <a:xfrm>
            <a:off x="4569817" y="3554413"/>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Réutilisable dans les projets suivants, copiée dans un dossier libft.</a:t>
            </a:r>
            <a:endParaRPr lang="en-US" sz="1300" dirty="0"/>
          </a:p>
        </p:txBody>
      </p:sp>
      <p:sp>
        <p:nvSpPr>
          <p:cNvPr id="19" name="Shape 17"/>
          <p:cNvSpPr/>
          <p:nvPr/>
        </p:nvSpPr>
        <p:spPr>
          <a:xfrm>
            <a:off x="7961809" y="3053457"/>
            <a:ext cx="3414216" cy="1144091"/>
          </a:xfrm>
          <a:prstGeom prst="roundRect">
            <a:avLst>
              <a:gd name="adj" fmla="val 8603"/>
            </a:avLst>
          </a:prstGeom>
          <a:solidFill>
            <a:srgbClr val="FBFAF7"/>
          </a:solidFill>
          <a:ln w="6350">
            <a:solidFill>
              <a:srgbClr val="DAD6CC"/>
            </a:solidFill>
            <a:prstDash val="solid"/>
          </a:ln>
        </p:spPr>
      </p:sp>
      <p:sp>
        <p:nvSpPr>
          <p:cNvPr id="20" name="Text 18"/>
          <p:cNvSpPr/>
          <p:nvPr/>
        </p:nvSpPr>
        <p:spPr>
          <a:xfrm>
            <a:off x="8142784" y="3234432"/>
            <a:ext cx="314383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Arial" pitchFamily="34" charset="0"/>
                <a:ea typeface="Arial" pitchFamily="34" charset="-122"/>
                <a:cs typeface="Arial" pitchFamily="34" charset="-120"/>
              </a:rPr>
              <a:t>Expliquer son code</a:t>
            </a:r>
            <a:endParaRPr lang="en-US" sz="1600" dirty="0"/>
          </a:p>
        </p:txBody>
      </p:sp>
      <p:sp>
        <p:nvSpPr>
          <p:cNvPr id="21" name="Text 19"/>
          <p:cNvSpPr/>
          <p:nvPr/>
        </p:nvSpPr>
        <p:spPr>
          <a:xfrm>
            <a:off x="8142784" y="3554413"/>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L’évaluation par les pairs vérifie que tu comprends ce que tu rends.</a:t>
            </a:r>
            <a:endParaRPr lang="en-US" sz="1300" dirty="0"/>
          </a:p>
        </p:txBody>
      </p:sp>
      <p:sp>
        <p:nvSpPr>
          <p:cNvPr id="22"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23" name="Text 21"/>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3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LES RÈGLES</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Règles communes du sujet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0141"/>
          <a:ext cx="10553700" cy="3233440"/>
        </p:xfrm>
        <a:graphic>
          <a:graphicData uri="http://schemas.openxmlformats.org/drawingml/2006/table">
            <a:tbl>
              <a:tblPr/>
              <a:tblGrid>
                <a:gridCol w="2321814"/>
                <a:gridCol w="8231886"/>
              </a:tblGrid>
              <a:tr h="359271">
                <a:tc>
                  <a:txBody>
                    <a:bodyPr/>
                    <a:lstStyle/>
                    <a:p>
                      <a:pPr indent="0" marL="0">
                        <a:lnSpc>
                          <a:spcPts val="1820"/>
                        </a:lnSpc>
                        <a:buNone/>
                      </a:pPr>
                      <a:r>
                        <a:rPr lang="en-US" sz="1300" b="1" dirty="0">
                          <a:solidFill>
                            <a:srgbClr val="1B1F24"/>
                          </a:solidFill>
                          <a:latin typeface="Arial" pitchFamily="34" charset="0"/>
                          <a:ea typeface="Arial" pitchFamily="34" charset="-122"/>
                          <a:cs typeface="Arial" pitchFamily="34" charset="-120"/>
                        </a:rPr>
                        <a:t>Règle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8B5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8B5AD"/>
                      </a:solidFill>
                      <a:prstDash val="solid"/>
                      <a:round/>
                      <a:headEnd type="none" w="med" len="med"/>
                      <a:tailEnd type="none" w="med" len="med"/>
                    </a:lnB>
                    <a:solidFill>
                      <a:srgbClr val="E6E2D8"/>
                    </a:solidFill>
                  </a:tcPr>
                </a:tc>
                <a:tc>
                  <a:txBody>
                    <a:bodyPr/>
                    <a:lstStyle/>
                    <a:p>
                      <a:pPr indent="0" marL="0">
                        <a:lnSpc>
                          <a:spcPts val="1820"/>
                        </a:lnSpc>
                        <a:buNone/>
                      </a:pPr>
                      <a:r>
                        <a:rPr lang="en-US" sz="1300" b="1" dirty="0">
                          <a:solidFill>
                            <a:srgbClr val="1B1F24"/>
                          </a:solidFill>
                          <a:latin typeface="Arial" pitchFamily="34" charset="0"/>
                          <a:ea typeface="Arial" pitchFamily="34" charset="-122"/>
                          <a:cs typeface="Arial" pitchFamily="34" charset="-120"/>
                        </a:rPr>
                        <a:t>Ce que le sujet exige</a:t>
                      </a:r>
                      <a:endParaRPr lang="en-US" sz="1300" dirty="0">
                        <a:latin typeface="Arial" charset="0"/>
                        <a:ea typeface="Arial" charset="0"/>
                        <a:cs typeface="Arial" charset="0"/>
                      </a:endParaRPr>
                    </a:p>
                  </a:txBody>
                  <a:tcPr marL="57785" marR="57785" marT="57785" marB="57785" anchor="t">
                    <a:lnL w="12700" cap="flat" cmpd="sng" algn="ctr">
                      <a:solidFill>
                        <a:srgbClr val="B8B5AD"/>
                      </a:solidFill>
                      <a:prstDash val="solid"/>
                      <a:round/>
                      <a:headEnd type="none" w="med" len="med"/>
                      <a:tailEnd type="none" w="med" len="med"/>
                    </a:lnL>
                    <a:lnR w="12700" cap="flat" cmpd="sng" algn="ctr">
                      <a:solidFill>
                        <a:srgbClr val="B8B5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8B5AD"/>
                      </a:solidFill>
                      <a:prstDash val="solid"/>
                      <a:round/>
                      <a:headEnd type="none" w="med" len="med"/>
                      <a:tailEnd type="none" w="med" len="med"/>
                    </a:lnB>
                    <a:solidFill>
                      <a:srgbClr val="E6E2D8"/>
                    </a:solidFill>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Langage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8B5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Le projet est écrit en C</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8B5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Norme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Respect de la Norme ; une erreur donne 0, bonus compris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Stabilité</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Ni segfault, ni bus error, ni double free (hors comportement indéfini), sinon 0</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Mémoire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Toute mémoire allouée est libérée ; aucune fuite tolérée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Compilation</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cc avec -Wall -Wextra -Werror, sans relink inutile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Makefile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$(NAME), all, clean, fclean, re (et bonus si tu rends des bonus)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Tests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Encouragés, mais non rendus et non notés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Rendu</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Dépôt Git assigné : seul son contenu est évalué</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6" name="Text 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LES RÈGLES</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Contraintes techniques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0141"/>
          <a:ext cx="10553700" cy="3233440"/>
        </p:xfrm>
        <a:graphic>
          <a:graphicData uri="http://schemas.openxmlformats.org/drawingml/2006/table">
            <a:tbl>
              <a:tblPr/>
              <a:tblGrid>
                <a:gridCol w="2955036"/>
                <a:gridCol w="7598664"/>
              </a:tblGrid>
              <a:tr h="359271">
                <a:tc>
                  <a:txBody>
                    <a:bodyPr/>
                    <a:lstStyle/>
                    <a:p>
                      <a:pPr indent="0" marL="0">
                        <a:lnSpc>
                          <a:spcPts val="1820"/>
                        </a:lnSpc>
                        <a:buNone/>
                      </a:pPr>
                      <a:r>
                        <a:rPr lang="en-US" sz="1300" b="1" dirty="0">
                          <a:solidFill>
                            <a:srgbClr val="1B1F24"/>
                          </a:solidFill>
                          <a:latin typeface="Arial" pitchFamily="34" charset="0"/>
                          <a:ea typeface="Arial" pitchFamily="34" charset="-122"/>
                          <a:cs typeface="Arial" pitchFamily="34" charset="-120"/>
                        </a:rPr>
                        <a:t>Sujet</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8B5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8B5AD"/>
                      </a:solidFill>
                      <a:prstDash val="solid"/>
                      <a:round/>
                      <a:headEnd type="none" w="med" len="med"/>
                      <a:tailEnd type="none" w="med" len="med"/>
                    </a:lnB>
                    <a:solidFill>
                      <a:srgbClr val="E6E2D8"/>
                    </a:solidFill>
                  </a:tcPr>
                </a:tc>
                <a:tc>
                  <a:txBody>
                    <a:bodyPr/>
                    <a:lstStyle/>
                    <a:p>
                      <a:pPr indent="0" marL="0">
                        <a:lnSpc>
                          <a:spcPts val="1820"/>
                        </a:lnSpc>
                        <a:buNone/>
                      </a:pPr>
                      <a:r>
                        <a:rPr lang="en-US" sz="1300" b="1" dirty="0">
                          <a:solidFill>
                            <a:srgbClr val="1B1F24"/>
                          </a:solidFill>
                          <a:latin typeface="Arial" pitchFamily="34" charset="0"/>
                          <a:ea typeface="Arial" pitchFamily="34" charset="-122"/>
                          <a:cs typeface="Arial" pitchFamily="34" charset="-120"/>
                        </a:rPr>
                        <a:t>Contrainte</a:t>
                      </a:r>
                      <a:endParaRPr lang="en-US" sz="1300" dirty="0">
                        <a:latin typeface="Arial" charset="0"/>
                        <a:ea typeface="Arial" charset="0"/>
                        <a:cs typeface="Arial" charset="0"/>
                      </a:endParaRPr>
                    </a:p>
                  </a:txBody>
                  <a:tcPr marL="57785" marR="57785" marT="57785" marB="57785" anchor="t">
                    <a:lnL w="12700" cap="flat" cmpd="sng" algn="ctr">
                      <a:solidFill>
                        <a:srgbClr val="B8B5AD"/>
                      </a:solidFill>
                      <a:prstDash val="solid"/>
                      <a:round/>
                      <a:headEnd type="none" w="med" len="med"/>
                      <a:tailEnd type="none" w="med" len="med"/>
                    </a:lnL>
                    <a:lnR w="12700" cap="flat" cmpd="sng" algn="ctr">
                      <a:solidFill>
                        <a:srgbClr val="B8B5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8B5AD"/>
                      </a:solidFill>
                      <a:prstDash val="solid"/>
                      <a:round/>
                      <a:headEnd type="none" w="med" len="med"/>
                      <a:tailEnd type="none" w="med" len="med"/>
                    </a:lnB>
                    <a:solidFill>
                      <a:srgbClr val="E6E2D8"/>
                    </a:solidFill>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Variables globales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8B5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Strictement interdites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8B5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Fonctions auxiliaires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Déclarées static pour limiter leur portée au fichier</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Emplacement</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Tous les fichiers à la racine du dépôt</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Fichiers inutiles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Soumettre des fichiers inutilisés n’est pas autorisé</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Compilation</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Chaque .c compile avec -Wall -Wextra -Werror</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Archive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La commande ar est obligatoire, libtool est interdit</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libft.a</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Créée à la racine du dépôt</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restrict et C99</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Interdits dans tes prototypes, comme le flag -std=c99</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6" name="Text 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LES RÈGLES</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Ce qu’il faut rendre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0141"/>
          <a:ext cx="10553700" cy="2155627"/>
        </p:xfrm>
        <a:graphic>
          <a:graphicData uri="http://schemas.openxmlformats.org/drawingml/2006/table">
            <a:tbl>
              <a:tblPr/>
              <a:tblGrid>
                <a:gridCol w="2955036"/>
                <a:gridCol w="7598664"/>
              </a:tblGrid>
              <a:tr h="359271">
                <a:tc>
                  <a:txBody>
                    <a:bodyPr/>
                    <a:lstStyle/>
                    <a:p>
                      <a:pPr indent="0" marL="0">
                        <a:lnSpc>
                          <a:spcPts val="1820"/>
                        </a:lnSpc>
                        <a:buNone/>
                      </a:pPr>
                      <a:r>
                        <a:rPr lang="en-US" sz="1300" b="1" dirty="0">
                          <a:solidFill>
                            <a:srgbClr val="1B1F24"/>
                          </a:solidFill>
                          <a:latin typeface="Arial" pitchFamily="34" charset="0"/>
                          <a:ea typeface="Arial" pitchFamily="34" charset="-122"/>
                          <a:cs typeface="Arial" pitchFamily="34" charset="-120"/>
                        </a:rPr>
                        <a:t>Élément</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8B5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8B5AD"/>
                      </a:solidFill>
                      <a:prstDash val="solid"/>
                      <a:round/>
                      <a:headEnd type="none" w="med" len="med"/>
                      <a:tailEnd type="none" w="med" len="med"/>
                    </a:lnB>
                    <a:solidFill>
                      <a:srgbClr val="E6E2D8"/>
                    </a:solidFill>
                  </a:tcPr>
                </a:tc>
                <a:tc>
                  <a:txBody>
                    <a:bodyPr/>
                    <a:lstStyle/>
                    <a:p>
                      <a:pPr indent="0" marL="0">
                        <a:lnSpc>
                          <a:spcPts val="1820"/>
                        </a:lnSpc>
                        <a:buNone/>
                      </a:pPr>
                      <a:r>
                        <a:rPr lang="en-US" sz="1300" b="1" dirty="0">
                          <a:solidFill>
                            <a:srgbClr val="1B1F24"/>
                          </a:solidFill>
                          <a:latin typeface="Arial" pitchFamily="34" charset="0"/>
                          <a:ea typeface="Arial" pitchFamily="34" charset="-122"/>
                          <a:cs typeface="Arial" pitchFamily="34" charset="-120"/>
                        </a:rPr>
                        <a:t>Valeur du sujet</a:t>
                      </a:r>
                      <a:endParaRPr lang="en-US" sz="1300" dirty="0">
                        <a:latin typeface="Arial" charset="0"/>
                        <a:ea typeface="Arial" charset="0"/>
                        <a:cs typeface="Arial" charset="0"/>
                      </a:endParaRPr>
                    </a:p>
                  </a:txBody>
                  <a:tcPr marL="57785" marR="57785" marT="57785" marB="57785" anchor="t">
                    <a:lnL w="12700" cap="flat" cmpd="sng" algn="ctr">
                      <a:solidFill>
                        <a:srgbClr val="B8B5AD"/>
                      </a:solidFill>
                      <a:prstDash val="solid"/>
                      <a:round/>
                      <a:headEnd type="none" w="med" len="med"/>
                      <a:tailEnd type="none" w="med" len="med"/>
                    </a:lnL>
                    <a:lnR w="12700" cap="flat" cmpd="sng" algn="ctr">
                      <a:solidFill>
                        <a:srgbClr val="B8B5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8B5AD"/>
                      </a:solidFill>
                      <a:prstDash val="solid"/>
                      <a:round/>
                      <a:headEnd type="none" w="med" len="med"/>
                      <a:tailEnd type="none" w="med" len="med"/>
                    </a:lnB>
                    <a:solidFill>
                      <a:srgbClr val="E6E2D8"/>
                    </a:solidFill>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Programme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8B5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libft.a</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8B5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Fichiers à rendre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Makefile, libft.h, ft_*.c</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Règles du Makefile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NAME, all, clean, fclean, re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Fonctions externes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Précisées fonction par fonction : malloc, free, write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Libft autorisée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Sans objet pour ce projet</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4118967"/>
            <a:ext cx="10566400" cy="640060"/>
          </a:xfrm>
          <a:prstGeom prst="rect">
            <a:avLst/>
          </a:prstGeom>
          <a:solidFill>
            <a:srgbClr val="FBFAF7"/>
          </a:solidFill>
          <a:ln/>
        </p:spPr>
        <p:txBody>
          <a:bodyPr wrap="square" lIns="241300" tIns="177800" rIns="0" bIns="152400" rtlCol="0" anchor="t">
            <a:normAutofit/>
          </a:bodyPr>
          <a:lstStyle/>
          <a:p>
            <a:pPr algn="l" indent="0" marL="0">
              <a:lnSpc>
                <a:spcPts val="2240"/>
              </a:lnSpc>
              <a:buNone/>
            </a:pPr>
            <a:r>
              <a:rPr lang="en-US" sz="1600" dirty="0">
                <a:solidFill>
                  <a:srgbClr val="1B1F24"/>
                </a:solidFill>
                <a:latin typeface="Arial" pitchFamily="34" charset="0"/>
                <a:ea typeface="Arial" pitchFamily="34" charset="-122"/>
                <a:cs typeface="Arial" pitchFamily="34" charset="-120"/>
              </a:rPr>
              <a:t>Place tous les fichiers à la racine du dépôt et vérifie le nom de chacun avant la défense.</a:t>
            </a:r>
            <a:endParaRPr lang="en-US" sz="1600" dirty="0"/>
          </a:p>
        </p:txBody>
      </p:sp>
      <p:sp>
        <p:nvSpPr>
          <p:cNvPr id="6" name="Shape 3"/>
          <p:cNvSpPr/>
          <p:nvPr/>
        </p:nvSpPr>
        <p:spPr>
          <a:xfrm>
            <a:off x="831850" y="4118967"/>
            <a:ext cx="0" cy="640060"/>
          </a:xfrm>
          <a:prstGeom prst="line">
            <a:avLst/>
          </a:prstGeom>
          <a:noFill/>
          <a:ln w="38100">
            <a:solidFill>
              <a:srgbClr val="E9A23B"/>
            </a:solidFill>
            <a:prstDash val="solid"/>
          </a:ln>
        </p:spPr>
      </p:sp>
      <p:sp>
        <p:nvSpPr>
          <p:cNvPr id="7"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8" name="Text 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LE CONTENU</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Trois parties, 43 fonctions</a:t>
            </a:r>
            <a:endParaRPr lang="en-US" sz="3200" dirty="0"/>
          </a:p>
        </p:txBody>
      </p:sp>
      <p:sp>
        <p:nvSpPr>
          <p:cNvPr id="4" name="Shape 2"/>
          <p:cNvSpPr/>
          <p:nvPr/>
        </p:nvSpPr>
        <p:spPr>
          <a:xfrm>
            <a:off x="815975" y="1750616"/>
            <a:ext cx="3414117" cy="2045692"/>
          </a:xfrm>
          <a:prstGeom prst="roundRect">
            <a:avLst>
              <a:gd name="adj" fmla="val 4811"/>
            </a:avLst>
          </a:prstGeom>
          <a:solidFill>
            <a:srgbClr val="FBFAF7"/>
          </a:solidFill>
          <a:ln w="6350">
            <a:solidFill>
              <a:srgbClr val="DAD6CC"/>
            </a:solidFill>
            <a:prstDash val="solid"/>
          </a:ln>
        </p:spPr>
      </p:sp>
      <p:sp>
        <p:nvSpPr>
          <p:cNvPr id="5" name="Text 3"/>
          <p:cNvSpPr/>
          <p:nvPr/>
        </p:nvSpPr>
        <p:spPr>
          <a:xfrm>
            <a:off x="1022350" y="1956991"/>
            <a:ext cx="30914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PARTIE 1</a:t>
            </a:r>
            <a:endParaRPr lang="en-US" sz="1200" dirty="0"/>
          </a:p>
        </p:txBody>
      </p:sp>
      <p:sp>
        <p:nvSpPr>
          <p:cNvPr id="6" name="Text 4"/>
          <p:cNvSpPr/>
          <p:nvPr/>
        </p:nvSpPr>
        <p:spPr>
          <a:xfrm>
            <a:off x="1022350" y="2259211"/>
            <a:ext cx="3091408"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1F24"/>
                </a:solidFill>
                <a:latin typeface="Arial" pitchFamily="34" charset="0"/>
                <a:ea typeface="Arial" pitchFamily="34" charset="-122"/>
                <a:cs typeface="Arial" pitchFamily="34" charset="-120"/>
              </a:rPr>
              <a:t>23</a:t>
            </a:r>
            <a:endParaRPr lang="en-US" sz="3200" dirty="0"/>
          </a:p>
        </p:txBody>
      </p:sp>
      <p:sp>
        <p:nvSpPr>
          <p:cNvPr id="7" name="Text 5"/>
          <p:cNvSpPr/>
          <p:nvPr/>
        </p:nvSpPr>
        <p:spPr>
          <a:xfrm>
            <a:off x="1022350" y="279509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Arial" pitchFamily="34" charset="0"/>
                <a:ea typeface="Arial" pitchFamily="34" charset="-122"/>
                <a:cs typeface="Arial" pitchFamily="34" charset="-120"/>
              </a:rPr>
              <a:t>Fonctions de la libc</a:t>
            </a:r>
            <a:endParaRPr lang="en-US" sz="1600" dirty="0"/>
          </a:p>
        </p:txBody>
      </p:sp>
      <p:sp>
        <p:nvSpPr>
          <p:cNvPr id="8" name="Text 6"/>
          <p:cNvSpPr/>
          <p:nvPr/>
        </p:nvSpPr>
        <p:spPr>
          <a:xfrm>
            <a:off x="1022350" y="3127772"/>
            <a:ext cx="30914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Même prototype et même comportement que l’original, avec le préfixe ft_.</a:t>
            </a:r>
            <a:endParaRPr lang="en-US" sz="1300" dirty="0"/>
          </a:p>
        </p:txBody>
      </p:sp>
      <p:sp>
        <p:nvSpPr>
          <p:cNvPr id="9" name="Shape 7"/>
          <p:cNvSpPr/>
          <p:nvPr/>
        </p:nvSpPr>
        <p:spPr>
          <a:xfrm>
            <a:off x="4388842" y="1750616"/>
            <a:ext cx="3414216" cy="2045692"/>
          </a:xfrm>
          <a:prstGeom prst="roundRect">
            <a:avLst>
              <a:gd name="adj" fmla="val 4811"/>
            </a:avLst>
          </a:prstGeom>
          <a:solidFill>
            <a:srgbClr val="FBFAF7"/>
          </a:solidFill>
          <a:ln w="6350">
            <a:solidFill>
              <a:srgbClr val="DAD6CC"/>
            </a:solidFill>
            <a:prstDash val="solid"/>
          </a:ln>
        </p:spPr>
      </p:sp>
      <p:sp>
        <p:nvSpPr>
          <p:cNvPr id="10" name="Text 8"/>
          <p:cNvSpPr/>
          <p:nvPr/>
        </p:nvSpPr>
        <p:spPr>
          <a:xfrm>
            <a:off x="4595217" y="195699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PARTIE 2</a:t>
            </a:r>
            <a:endParaRPr lang="en-US" sz="1200" dirty="0"/>
          </a:p>
        </p:txBody>
      </p:sp>
      <p:sp>
        <p:nvSpPr>
          <p:cNvPr id="11" name="Text 9"/>
          <p:cNvSpPr/>
          <p:nvPr/>
        </p:nvSpPr>
        <p:spPr>
          <a:xfrm>
            <a:off x="4595217" y="2259211"/>
            <a:ext cx="309151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1F24"/>
                </a:solidFill>
                <a:latin typeface="Arial" pitchFamily="34" charset="0"/>
                <a:ea typeface="Arial" pitchFamily="34" charset="-122"/>
                <a:cs typeface="Arial" pitchFamily="34" charset="-120"/>
              </a:rPr>
              <a:t>11</a:t>
            </a:r>
            <a:endParaRPr lang="en-US" sz="3200" dirty="0"/>
          </a:p>
        </p:txBody>
      </p:sp>
      <p:sp>
        <p:nvSpPr>
          <p:cNvPr id="12" name="Text 10"/>
          <p:cNvSpPr/>
          <p:nvPr/>
        </p:nvSpPr>
        <p:spPr>
          <a:xfrm>
            <a:off x="4595217" y="279509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Arial" pitchFamily="34" charset="0"/>
                <a:ea typeface="Arial" pitchFamily="34" charset="-122"/>
                <a:cs typeface="Arial" pitchFamily="34" charset="-120"/>
              </a:rPr>
              <a:t>Fonctions additionnelles</a:t>
            </a:r>
            <a:endParaRPr lang="en-US" sz="1600" dirty="0"/>
          </a:p>
        </p:txBody>
      </p:sp>
      <p:sp>
        <p:nvSpPr>
          <p:cNvPr id="13" name="Text 11"/>
          <p:cNvSpPr/>
          <p:nvPr/>
        </p:nvSpPr>
        <p:spPr>
          <a:xfrm>
            <a:off x="4595217" y="3127772"/>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Absentes de la libc ou existant sous une autre forme.</a:t>
            </a:r>
            <a:endParaRPr lang="en-US" sz="1300" dirty="0"/>
          </a:p>
        </p:txBody>
      </p:sp>
      <p:sp>
        <p:nvSpPr>
          <p:cNvPr id="14" name="Shape 12"/>
          <p:cNvSpPr/>
          <p:nvPr/>
        </p:nvSpPr>
        <p:spPr>
          <a:xfrm>
            <a:off x="7961809" y="1750616"/>
            <a:ext cx="3414216" cy="2045692"/>
          </a:xfrm>
          <a:prstGeom prst="roundRect">
            <a:avLst>
              <a:gd name="adj" fmla="val 4811"/>
            </a:avLst>
          </a:prstGeom>
          <a:solidFill>
            <a:srgbClr val="FBFAF7"/>
          </a:solidFill>
          <a:ln w="6350">
            <a:solidFill>
              <a:srgbClr val="DAD6CC"/>
            </a:solidFill>
            <a:prstDash val="solid"/>
          </a:ln>
        </p:spPr>
      </p:sp>
      <p:sp>
        <p:nvSpPr>
          <p:cNvPr id="15" name="Text 13"/>
          <p:cNvSpPr/>
          <p:nvPr/>
        </p:nvSpPr>
        <p:spPr>
          <a:xfrm>
            <a:off x="8168184" y="195699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PARTIE 3</a:t>
            </a:r>
            <a:endParaRPr lang="en-US" sz="1200" dirty="0"/>
          </a:p>
        </p:txBody>
      </p:sp>
      <p:sp>
        <p:nvSpPr>
          <p:cNvPr id="16" name="Text 14"/>
          <p:cNvSpPr/>
          <p:nvPr/>
        </p:nvSpPr>
        <p:spPr>
          <a:xfrm>
            <a:off x="8168184" y="2259211"/>
            <a:ext cx="309151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1F24"/>
                </a:solidFill>
                <a:latin typeface="Arial" pitchFamily="34" charset="0"/>
                <a:ea typeface="Arial" pitchFamily="34" charset="-122"/>
                <a:cs typeface="Arial" pitchFamily="34" charset="-120"/>
              </a:rPr>
              <a:t>9</a:t>
            </a:r>
            <a:endParaRPr lang="en-US" sz="3200" dirty="0"/>
          </a:p>
        </p:txBody>
      </p:sp>
      <p:sp>
        <p:nvSpPr>
          <p:cNvPr id="17" name="Text 15"/>
          <p:cNvSpPr/>
          <p:nvPr/>
        </p:nvSpPr>
        <p:spPr>
          <a:xfrm>
            <a:off x="8168184" y="279509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Arial" pitchFamily="34" charset="0"/>
                <a:ea typeface="Arial" pitchFamily="34" charset="-122"/>
                <a:cs typeface="Arial" pitchFamily="34" charset="-120"/>
              </a:rPr>
              <a:t>Listes chaînées</a:t>
            </a:r>
            <a:endParaRPr lang="en-US" sz="1600" dirty="0"/>
          </a:p>
        </p:txBody>
      </p:sp>
      <p:sp>
        <p:nvSpPr>
          <p:cNvPr id="18" name="Text 16"/>
          <p:cNvSpPr/>
          <p:nvPr/>
        </p:nvSpPr>
        <p:spPr>
          <a:xfrm>
            <a:off x="8168184" y="3127772"/>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La structure t_list et les fonctions pour la manipuler.</a:t>
            </a:r>
            <a:endParaRPr lang="en-US" sz="1300" dirty="0"/>
          </a:p>
        </p:txBody>
      </p:sp>
      <p:sp>
        <p:nvSpPr>
          <p:cNvPr id="19" name="Text 17"/>
          <p:cNvSpPr/>
          <p:nvPr/>
        </p:nvSpPr>
        <p:spPr>
          <a:xfrm>
            <a:off x="812800" y="4002683"/>
            <a:ext cx="10566400" cy="589260"/>
          </a:xfrm>
          <a:prstGeom prst="rect">
            <a:avLst/>
          </a:prstGeom>
          <a:solidFill>
            <a:srgbClr val="FBFAF7"/>
          </a:solidFill>
          <a:ln/>
        </p:spPr>
        <p:txBody>
          <a:bodyPr wrap="square" lIns="241300" tIns="152400" rIns="0" bIns="127000" rtlCol="0" anchor="t">
            <a:normAutofit/>
          </a:bodyPr>
          <a:lstStyle/>
          <a:p>
            <a:pPr algn="l" indent="0" marL="0">
              <a:lnSpc>
                <a:spcPts val="2240"/>
              </a:lnSpc>
              <a:buNone/>
            </a:pPr>
            <a:r>
              <a:rPr lang="en-US" sz="1600" dirty="0">
                <a:solidFill>
                  <a:srgbClr val="1B1F24"/>
                </a:solidFill>
                <a:latin typeface="Arial" pitchFamily="34" charset="0"/>
                <a:ea typeface="Arial" pitchFamily="34" charset="-122"/>
                <a:cs typeface="Arial" pitchFamily="34" charset="-120"/>
              </a:rPr>
              <a:t>Les fonctions de la partie 1 peuvent servir à écrire celles de la partie 2.</a:t>
            </a:r>
            <a:endParaRPr lang="en-US" sz="1600" dirty="0"/>
          </a:p>
        </p:txBody>
      </p:sp>
      <p:sp>
        <p:nvSpPr>
          <p:cNvPr id="20" name="Shape 18"/>
          <p:cNvSpPr/>
          <p:nvPr/>
        </p:nvSpPr>
        <p:spPr>
          <a:xfrm>
            <a:off x="831850" y="4002683"/>
            <a:ext cx="0" cy="589260"/>
          </a:xfrm>
          <a:prstGeom prst="line">
            <a:avLst/>
          </a:prstGeom>
          <a:noFill/>
          <a:ln w="38100">
            <a:solidFill>
              <a:srgbClr val="E9A23B"/>
            </a:solidFill>
            <a:prstDash val="solid"/>
          </a:ln>
        </p:spPr>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22" name="Text 2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PARTIE 1</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Les 23 fonctions de la libc</a:t>
            </a:r>
            <a:endParaRPr lang="en-US" sz="3200" dirty="0"/>
          </a:p>
        </p:txBody>
      </p:sp>
      <p:sp>
        <p:nvSpPr>
          <p:cNvPr id="4" name="Shape 2"/>
          <p:cNvSpPr/>
          <p:nvPr/>
        </p:nvSpPr>
        <p:spPr>
          <a:xfrm>
            <a:off x="812800" y="1747441"/>
            <a:ext cx="3420467" cy="2770783"/>
          </a:xfrm>
          <a:prstGeom prst="roundRect">
            <a:avLst>
              <a:gd name="adj" fmla="val 3667"/>
            </a:avLst>
          </a:prstGeom>
          <a:solidFill>
            <a:srgbClr val="1C222B"/>
          </a:solidFill>
          <a:ln/>
        </p:spPr>
      </p:sp>
      <p:sp>
        <p:nvSpPr>
          <p:cNvPr id="5" name="Text 3"/>
          <p:cNvSpPr/>
          <p:nvPr/>
        </p:nvSpPr>
        <p:spPr>
          <a:xfrm>
            <a:off x="990600" y="1925241"/>
            <a:ext cx="315681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Arial" pitchFamily="34" charset="0"/>
                <a:ea typeface="Arial" pitchFamily="34" charset="-122"/>
                <a:cs typeface="Arial" pitchFamily="34" charset="-120"/>
              </a:rPr>
              <a:t>CARACTÈRES ET NOMBRES</a:t>
            </a:r>
            <a:endParaRPr lang="en-US" sz="1200" dirty="0"/>
          </a:p>
        </p:txBody>
      </p:sp>
      <p:sp>
        <p:nvSpPr>
          <p:cNvPr id="6" name="Text 4"/>
          <p:cNvSpPr/>
          <p:nvPr/>
        </p:nvSpPr>
        <p:spPr>
          <a:xfrm>
            <a:off x="990600" y="2227461"/>
            <a:ext cx="3156813" cy="2138363"/>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ft_isalpha</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ft_isdigit</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ft_isalnum</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ft_isascii</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ft_isprint</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ft_toupper</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ft_tolower</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ft_atoi</a:t>
            </a:r>
            <a:endParaRPr lang="en-US" sz="1300" dirty="0"/>
          </a:p>
        </p:txBody>
      </p:sp>
      <p:sp>
        <p:nvSpPr>
          <p:cNvPr id="7" name="Shape 5"/>
          <p:cNvSpPr/>
          <p:nvPr/>
        </p:nvSpPr>
        <p:spPr>
          <a:xfrm>
            <a:off x="4385667" y="1747441"/>
            <a:ext cx="3420566" cy="2506663"/>
          </a:xfrm>
          <a:prstGeom prst="roundRect">
            <a:avLst>
              <a:gd name="adj" fmla="val 4053"/>
            </a:avLst>
          </a:prstGeom>
          <a:solidFill>
            <a:srgbClr val="1C222B"/>
          </a:solidFill>
          <a:ln/>
        </p:spPr>
      </p:sp>
      <p:sp>
        <p:nvSpPr>
          <p:cNvPr id="8" name="Text 6"/>
          <p:cNvSpPr/>
          <p:nvPr/>
        </p:nvSpPr>
        <p:spPr>
          <a:xfrm>
            <a:off x="4563467" y="1925241"/>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Arial" pitchFamily="34" charset="0"/>
                <a:ea typeface="Arial" pitchFamily="34" charset="-122"/>
                <a:cs typeface="Arial" pitchFamily="34" charset="-120"/>
              </a:rPr>
              <a:t>MÉMOIRE</a:t>
            </a:r>
            <a:endParaRPr lang="en-US" sz="1200" dirty="0"/>
          </a:p>
        </p:txBody>
      </p:sp>
      <p:sp>
        <p:nvSpPr>
          <p:cNvPr id="9" name="Text 7"/>
          <p:cNvSpPr/>
          <p:nvPr/>
        </p:nvSpPr>
        <p:spPr>
          <a:xfrm>
            <a:off x="4563467" y="2227461"/>
            <a:ext cx="3156915" cy="1874242"/>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ft_memset</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ft_bzero</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ft_memcpy</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ft_memmove</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ft_memchr</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ft_memcmp</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ft_calloc</a:t>
            </a:r>
            <a:endParaRPr lang="en-US" sz="1300" dirty="0"/>
          </a:p>
        </p:txBody>
      </p:sp>
      <p:sp>
        <p:nvSpPr>
          <p:cNvPr id="10" name="Shape 8"/>
          <p:cNvSpPr/>
          <p:nvPr/>
        </p:nvSpPr>
        <p:spPr>
          <a:xfrm>
            <a:off x="7958634" y="1747441"/>
            <a:ext cx="3420566" cy="2770783"/>
          </a:xfrm>
          <a:prstGeom prst="roundRect">
            <a:avLst>
              <a:gd name="adj" fmla="val 3667"/>
            </a:avLst>
          </a:prstGeom>
          <a:solidFill>
            <a:srgbClr val="1C222B"/>
          </a:solidFill>
          <a:ln/>
        </p:spPr>
      </p:sp>
      <p:sp>
        <p:nvSpPr>
          <p:cNvPr id="11" name="Text 9"/>
          <p:cNvSpPr/>
          <p:nvPr/>
        </p:nvSpPr>
        <p:spPr>
          <a:xfrm>
            <a:off x="8136434" y="1925241"/>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Arial" pitchFamily="34" charset="0"/>
                <a:ea typeface="Arial" pitchFamily="34" charset="-122"/>
                <a:cs typeface="Arial" pitchFamily="34" charset="-120"/>
              </a:rPr>
              <a:t>CHAÎNES</a:t>
            </a:r>
            <a:endParaRPr lang="en-US" sz="1200" dirty="0"/>
          </a:p>
        </p:txBody>
      </p:sp>
      <p:sp>
        <p:nvSpPr>
          <p:cNvPr id="12" name="Text 10"/>
          <p:cNvSpPr/>
          <p:nvPr/>
        </p:nvSpPr>
        <p:spPr>
          <a:xfrm>
            <a:off x="8136434" y="2227461"/>
            <a:ext cx="3156915" cy="2138363"/>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ft_strlen</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ft_strlcpy</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ft_strlcat</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ft_strchr</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ft_strrchr</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ft_strncmp</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ft_strnstr</a:t>
            </a:r>
            <a:endParaRPr lang="en-US" sz="1300" dirty="0"/>
          </a:p>
          <a:p>
            <a:pPr algn="l" indent="0" marL="0">
              <a:lnSpc>
                <a:spcPts val="2080"/>
              </a:lnSpc>
              <a:buNone/>
            </a:pPr>
            <a:r>
              <a:rPr lang="en-US" sz="1300" dirty="0">
                <a:solidFill>
                  <a:srgbClr val="E8E6E1"/>
                </a:solidFill>
                <a:latin typeface="Courier New" pitchFamily="49" charset="0"/>
                <a:ea typeface="Courier New" pitchFamily="49" charset="-122"/>
                <a:cs typeface="Courier New" pitchFamily="49" charset="-120"/>
              </a:rPr>
              <a:t>ft_strdup</a:t>
            </a:r>
            <a:endParaRPr lang="en-US" sz="1300" dirty="0"/>
          </a:p>
        </p:txBody>
      </p:sp>
      <p:sp>
        <p:nvSpPr>
          <p:cNvPr id="13" name="Text 11"/>
          <p:cNvSpPr/>
          <p:nvPr/>
        </p:nvSpPr>
        <p:spPr>
          <a:xfrm>
            <a:off x="812800" y="4721423"/>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F24"/>
                </a:solidFill>
                <a:latin typeface="Arial" pitchFamily="34" charset="0"/>
                <a:ea typeface="Arial" pitchFamily="34" charset="-122"/>
                <a:cs typeface="Arial" pitchFamily="34" charset="-120"/>
              </a:rPr>
              <a:t>Mêmes prototypes et mêmes comportements que la page man, seul le préfixe ft_ change.</a:t>
            </a:r>
            <a:endParaRPr lang="en-US" sz="1600" dirty="0"/>
          </a:p>
        </p:txBody>
      </p:sp>
      <p:sp>
        <p:nvSpPr>
          <p:cNvPr id="14" name="Text 1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15" name="Text 1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8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PARTIE 1</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Les pièges de la libc</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0141"/>
          <a:ext cx="10553700" cy="3464520"/>
        </p:xfrm>
        <a:graphic>
          <a:graphicData uri="http://schemas.openxmlformats.org/drawingml/2006/table">
            <a:tbl>
              <a:tblPr/>
              <a:tblGrid>
                <a:gridCol w="2321814"/>
                <a:gridCol w="8231886"/>
              </a:tblGrid>
              <a:tr h="359271">
                <a:tc>
                  <a:txBody>
                    <a:bodyPr/>
                    <a:lstStyle/>
                    <a:p>
                      <a:pPr indent="0" marL="0">
                        <a:lnSpc>
                          <a:spcPts val="1820"/>
                        </a:lnSpc>
                        <a:buNone/>
                      </a:pPr>
                      <a:r>
                        <a:rPr lang="en-US" sz="1300" b="1" dirty="0">
                          <a:solidFill>
                            <a:srgbClr val="1B1F24"/>
                          </a:solidFill>
                          <a:latin typeface="Arial" pitchFamily="34" charset="0"/>
                          <a:ea typeface="Arial" pitchFamily="34" charset="-122"/>
                          <a:cs typeface="Arial" pitchFamily="34" charset="-120"/>
                        </a:rPr>
                        <a:t>Fonction</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8B5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8B5AD"/>
                      </a:solidFill>
                      <a:prstDash val="solid"/>
                      <a:round/>
                      <a:headEnd type="none" w="med" len="med"/>
                      <a:tailEnd type="none" w="med" len="med"/>
                    </a:lnB>
                    <a:solidFill>
                      <a:srgbClr val="E6E2D8"/>
                    </a:solidFill>
                  </a:tcPr>
                </a:tc>
                <a:tc>
                  <a:txBody>
                    <a:bodyPr/>
                    <a:lstStyle/>
                    <a:p>
                      <a:pPr indent="0" marL="0">
                        <a:lnSpc>
                          <a:spcPts val="1820"/>
                        </a:lnSpc>
                        <a:buNone/>
                      </a:pPr>
                      <a:r>
                        <a:rPr lang="en-US" sz="1300" b="1" dirty="0">
                          <a:solidFill>
                            <a:srgbClr val="1B1F24"/>
                          </a:solidFill>
                          <a:latin typeface="Arial" pitchFamily="34" charset="0"/>
                          <a:ea typeface="Arial" pitchFamily="34" charset="-122"/>
                          <a:cs typeface="Arial" pitchFamily="34" charset="-120"/>
                        </a:rPr>
                        <a:t>Point d’attention</a:t>
                      </a:r>
                      <a:endParaRPr lang="en-US" sz="1300" dirty="0">
                        <a:latin typeface="Arial" charset="0"/>
                        <a:ea typeface="Arial" charset="0"/>
                        <a:cs typeface="Arial" charset="0"/>
                      </a:endParaRPr>
                    </a:p>
                  </a:txBody>
                  <a:tcPr marL="57785" marR="57785" marT="57785" marB="57785" anchor="t">
                    <a:lnL w="12700" cap="flat" cmpd="sng" algn="ctr">
                      <a:solidFill>
                        <a:srgbClr val="B8B5AD"/>
                      </a:solidFill>
                      <a:prstDash val="solid"/>
                      <a:round/>
                      <a:headEnd type="none" w="med" len="med"/>
                      <a:tailEnd type="none" w="med" len="med"/>
                    </a:lnL>
                    <a:lnR w="12700" cap="flat" cmpd="sng" algn="ctr">
                      <a:solidFill>
                        <a:srgbClr val="B8B5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8B5AD"/>
                      </a:solidFill>
                      <a:prstDash val="solid"/>
                      <a:round/>
                      <a:headEnd type="none" w="med" len="med"/>
                      <a:tailEnd type="none" w="med" len="med"/>
                    </a:lnB>
                    <a:solidFill>
                      <a:srgbClr val="E6E2D8"/>
                    </a:solidFill>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memcpy, memmove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8B5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memcpy suppose des zones sans chevauchement ; memmove les gère en choisissant le sens de copie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8B5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90352">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strlcpy, strlcat</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Copient au plus size - 1 caractères, terminent par '\0' et retournent la longueur totale qu’elles ont tenté de créer</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strchr, strrchr</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Chercher '\0' retourne un pointeur vers la fin de la chaîne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strncmp, memcmp</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Comparaison en unsigned char ; memcmp ne s’arrête pas au '\0'</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calloc</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Si nmemb ou size vaut 0, retourne un pointeur unique que free() accepte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strnstr</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Une aiguille vide retourne la meule de foin ; la recherche est limitée à len caractères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is*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Retournent 1 si le caractère correspond, 0 sinon</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Tests sous glibc</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strlcpy, strlcat et bzero : inclure &lt;bsd/string.h&gt; et compiler avec -lbsd</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6" name="Text 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9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PARTIE 2</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Les 11 fonctions additionnelles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9341"/>
          <a:ext cx="10553700" cy="2874169"/>
        </p:xfrm>
        <a:graphic>
          <a:graphicData uri="http://schemas.openxmlformats.org/drawingml/2006/table">
            <a:tbl>
              <a:tblPr/>
              <a:tblGrid>
                <a:gridCol w="2110740"/>
                <a:gridCol w="5698998"/>
                <a:gridCol w="2743962"/>
              </a:tblGrid>
              <a:tr h="359271">
                <a:tc>
                  <a:txBody>
                    <a:bodyPr/>
                    <a:lstStyle/>
                    <a:p>
                      <a:pPr indent="0" marL="0">
                        <a:lnSpc>
                          <a:spcPts val="1820"/>
                        </a:lnSpc>
                        <a:buNone/>
                      </a:pPr>
                      <a:r>
                        <a:rPr lang="en-US" sz="1300" b="1" dirty="0">
                          <a:solidFill>
                            <a:srgbClr val="1B1F24"/>
                          </a:solidFill>
                          <a:latin typeface="Arial" pitchFamily="34" charset="0"/>
                          <a:ea typeface="Arial" pitchFamily="34" charset="-122"/>
                          <a:cs typeface="Arial" pitchFamily="34" charset="-120"/>
                        </a:rPr>
                        <a:t>Fonction</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8B5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8B5AD"/>
                      </a:solidFill>
                      <a:prstDash val="solid"/>
                      <a:round/>
                      <a:headEnd type="none" w="med" len="med"/>
                      <a:tailEnd type="none" w="med" len="med"/>
                    </a:lnB>
                    <a:solidFill>
                      <a:srgbClr val="E6E2D8"/>
                    </a:solidFill>
                  </a:tcPr>
                </a:tc>
                <a:tc>
                  <a:txBody>
                    <a:bodyPr/>
                    <a:lstStyle/>
                    <a:p>
                      <a:pPr indent="0" marL="0">
                        <a:lnSpc>
                          <a:spcPts val="1820"/>
                        </a:lnSpc>
                        <a:buNone/>
                      </a:pPr>
                      <a:r>
                        <a:rPr lang="en-US" sz="1300" b="1" dirty="0">
                          <a:solidFill>
                            <a:srgbClr val="1B1F24"/>
                          </a:solidFill>
                          <a:latin typeface="Arial" pitchFamily="34" charset="0"/>
                          <a:ea typeface="Arial" pitchFamily="34" charset="-122"/>
                          <a:cs typeface="Arial" pitchFamily="34" charset="-120"/>
                        </a:rPr>
                        <a:t>Rôle</a:t>
                      </a:r>
                      <a:endParaRPr lang="en-US" sz="1300" dirty="0">
                        <a:latin typeface="Arial" charset="0"/>
                        <a:ea typeface="Arial" charset="0"/>
                        <a:cs typeface="Arial" charset="0"/>
                      </a:endParaRPr>
                    </a:p>
                  </a:txBody>
                  <a:tcPr marL="57785" marR="57785" marT="57785" marB="57785" anchor="t">
                    <a:lnL w="12700" cap="flat" cmpd="sng" algn="ctr">
                      <a:solidFill>
                        <a:srgbClr val="B8B5AD"/>
                      </a:solidFill>
                      <a:prstDash val="solid"/>
                      <a:round/>
                      <a:headEnd type="none" w="med" len="med"/>
                      <a:tailEnd type="none" w="med" len="med"/>
                    </a:lnL>
                    <a:lnR w="12700" cap="flat" cmpd="sng" algn="ctr">
                      <a:solidFill>
                        <a:srgbClr val="B8B5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8B5AD"/>
                      </a:solidFill>
                      <a:prstDash val="solid"/>
                      <a:round/>
                      <a:headEnd type="none" w="med" len="med"/>
                      <a:tailEnd type="none" w="med" len="med"/>
                    </a:lnB>
                    <a:solidFill>
                      <a:srgbClr val="E6E2D8"/>
                    </a:solidFill>
                  </a:tcPr>
                </a:tc>
                <a:tc>
                  <a:txBody>
                    <a:bodyPr/>
                    <a:lstStyle/>
                    <a:p>
                      <a:pPr indent="0" marL="0">
                        <a:lnSpc>
                          <a:spcPts val="1820"/>
                        </a:lnSpc>
                        <a:buNone/>
                      </a:pPr>
                      <a:r>
                        <a:rPr lang="en-US" sz="1300" b="1" dirty="0">
                          <a:solidFill>
                            <a:srgbClr val="1B1F24"/>
                          </a:solidFill>
                          <a:latin typeface="Arial" pitchFamily="34" charset="0"/>
                          <a:ea typeface="Arial" pitchFamily="34" charset="-122"/>
                          <a:cs typeface="Arial" pitchFamily="34" charset="-120"/>
                        </a:rPr>
                        <a:t>Retour</a:t>
                      </a:r>
                      <a:endParaRPr lang="en-US" sz="1300" dirty="0">
                        <a:latin typeface="Arial" charset="0"/>
                        <a:ea typeface="Arial" charset="0"/>
                        <a:cs typeface="Arial" charset="0"/>
                      </a:endParaRPr>
                    </a:p>
                  </a:txBody>
                  <a:tcPr marL="57785" marR="57785" marT="57785" marB="57785" anchor="t">
                    <a:lnL w="12700" cap="flat" cmpd="sng" algn="ctr">
                      <a:solidFill>
                        <a:srgbClr val="B8B5AD"/>
                      </a:solidFill>
                      <a:prstDash val="solid"/>
                      <a:round/>
                      <a:headEnd type="none" w="med" len="med"/>
                      <a:tailEnd type="none" w="med" len="med"/>
                    </a:lnL>
                    <a:lnR w="12700" cap="flat" cmpd="sng" algn="ctr">
                      <a:solidFill>
                        <a:srgbClr val="B8B5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8B5AD"/>
                      </a:solidFill>
                      <a:prstDash val="solid"/>
                      <a:round/>
                      <a:headEnd type="none" w="med" len="med"/>
                      <a:tailEnd type="none" w="med" len="med"/>
                    </a:lnB>
                    <a:solidFill>
                      <a:srgbClr val="E6E2D8"/>
                    </a:solidFill>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ft_substr</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8B5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Sous-chaîne depuis start, de longueur max len</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8B5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NULL si échec</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8B5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ft_strjoin</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Concatène s1 et s2 dans une nouvelle chaîne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NULL si échec</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ft_strtrim</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Copie de s1 sans les caractères de set aux extrémités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NULL si échec</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ft_split</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Découpe s selon le séparateur c</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Tableau, ou NULL</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ft_itoa</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Convertit un entier, négatifs compris</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NULL si échec</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ft_strmapi</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Applique f(index, char), crée une nouvelle chaîne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NULL si échec</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ft_striteri</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Applique f(index, adresse) en place</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1F24"/>
                          </a:solidFill>
                          <a:latin typeface="Arial" pitchFamily="34" charset="0"/>
                          <a:ea typeface="Arial" pitchFamily="34" charset="-122"/>
                          <a:cs typeface="Arial" pitchFamily="34" charset="-120"/>
                        </a:rPr>
                        <a:t>Aucun</a:t>
                      </a:r>
                      <a:endParaRPr lang="en-US" sz="1300" dirty="0">
                        <a:latin typeface="Arial" charset="0"/>
                        <a:ea typeface="Arial" charset="0"/>
                        <a:cs typeface="Arial"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4735909"/>
            <a:ext cx="10566400" cy="766961"/>
          </a:xfrm>
          <a:prstGeom prst="rect">
            <a:avLst/>
          </a:prstGeom>
          <a:solidFill>
            <a:srgbClr val="FBFAF7"/>
          </a:solidFill>
          <a:ln/>
        </p:spPr>
        <p:txBody>
          <a:bodyPr wrap="square" lIns="241300" tIns="152400" rIns="0" bIns="127000" rtlCol="0" anchor="t">
            <a:normAutofit/>
          </a:bodyPr>
          <a:lstStyle/>
          <a:p>
            <a:pPr algn="l" indent="0" marL="0">
              <a:lnSpc>
                <a:spcPts val="1820"/>
              </a:lnSpc>
              <a:buNone/>
            </a:pPr>
            <a:r>
              <a:rPr lang="en-US" sz="1300" b="1" dirty="0">
                <a:solidFill>
                  <a:srgbClr val="1B1F24"/>
                </a:solidFill>
                <a:latin typeface="Arial" pitchFamily="34" charset="0"/>
                <a:ea typeface="Arial" pitchFamily="34" charset="-122"/>
                <a:cs typeface="Arial" pitchFamily="34" charset="-120"/>
              </a:rPr>
              <a:t>Écriture sur un descripteur.</a:t>
            </a:r>
            <a:r>
              <a:rPr lang="en-US" sz="1300" dirty="0">
                <a:solidFill>
                  <a:srgbClr val="1B1F24"/>
                </a:solidFill>
                <a:latin typeface="Arial" pitchFamily="34" charset="0"/>
                <a:ea typeface="Arial" pitchFamily="34" charset="-122"/>
                <a:cs typeface="Arial" pitchFamily="34" charset="-120"/>
              </a:rPr>
              <a:t> ft_putchar_fd, ft_putstr_fd, ft_putendl_fd et ft_putnbr_fd écrivent avec write, seule fonction externe autorisée.</a:t>
            </a:r>
            <a:endParaRPr lang="en-US" sz="1300" dirty="0"/>
          </a:p>
        </p:txBody>
      </p:sp>
      <p:sp>
        <p:nvSpPr>
          <p:cNvPr id="6" name="Shape 3"/>
          <p:cNvSpPr/>
          <p:nvPr/>
        </p:nvSpPr>
        <p:spPr>
          <a:xfrm>
            <a:off x="831850" y="4735909"/>
            <a:ext cx="0" cy="766961"/>
          </a:xfrm>
          <a:prstGeom prst="line">
            <a:avLst/>
          </a:prstGeom>
          <a:noFill/>
          <a:ln w="38100">
            <a:solidFill>
              <a:srgbClr val="E9A23B"/>
            </a:solidFill>
            <a:prstDash val="solid"/>
          </a:ln>
        </p:spPr>
      </p:sp>
      <p:sp>
        <p:nvSpPr>
          <p:cNvPr id="7"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8" name="Text 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10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PARTIE 2</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Les cas limites à connaître</a:t>
            </a:r>
            <a:endParaRPr lang="en-US" sz="3200" dirty="0"/>
          </a:p>
        </p:txBody>
      </p:sp>
      <p:sp>
        <p:nvSpPr>
          <p:cNvPr id="4" name="Shape 2"/>
          <p:cNvSpPr/>
          <p:nvPr/>
        </p:nvSpPr>
        <p:spPr>
          <a:xfrm>
            <a:off x="815975" y="1750616"/>
            <a:ext cx="5200650" cy="1144091"/>
          </a:xfrm>
          <a:prstGeom prst="roundRect">
            <a:avLst>
              <a:gd name="adj" fmla="val 8603"/>
            </a:avLst>
          </a:prstGeom>
          <a:solidFill>
            <a:srgbClr val="FBFAF7"/>
          </a:solidFill>
          <a:ln w="6350">
            <a:solidFill>
              <a:srgbClr val="DAD6CC"/>
            </a:solidFill>
            <a:prstDash val="solid"/>
          </a:ln>
        </p:spPr>
      </p:sp>
      <p:sp>
        <p:nvSpPr>
          <p:cNvPr id="5" name="Text 3"/>
          <p:cNvSpPr/>
          <p:nvPr/>
        </p:nvSpPr>
        <p:spPr>
          <a:xfrm>
            <a:off x="996950" y="1931591"/>
            <a:ext cx="49838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Courier New" pitchFamily="49" charset="0"/>
                <a:ea typeface="Courier New" pitchFamily="49" charset="-122"/>
                <a:cs typeface="Courier New" pitchFamily="49" charset="-120"/>
              </a:rPr>
              <a:t>ft_substr</a:t>
            </a:r>
            <a:endParaRPr lang="en-US" sz="1600" dirty="0"/>
          </a:p>
        </p:txBody>
      </p:sp>
      <p:sp>
        <p:nvSpPr>
          <p:cNvPr id="6" name="Text 4"/>
          <p:cNvSpPr/>
          <p:nvPr/>
        </p:nvSpPr>
        <p:spPr>
          <a:xfrm>
            <a:off x="996950" y="2251571"/>
            <a:ext cx="498386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Si start dépasse la longueur de s, on retourne une chaîne vide allouée. Si len dépasse le reste, on tronque.</a:t>
            </a:r>
            <a:endParaRPr lang="en-US" sz="1300" dirty="0"/>
          </a:p>
        </p:txBody>
      </p:sp>
      <p:sp>
        <p:nvSpPr>
          <p:cNvPr id="7" name="Shape 5"/>
          <p:cNvSpPr/>
          <p:nvPr/>
        </p:nvSpPr>
        <p:spPr>
          <a:xfrm>
            <a:off x="6175375" y="1750616"/>
            <a:ext cx="5200650" cy="1144091"/>
          </a:xfrm>
          <a:prstGeom prst="roundRect">
            <a:avLst>
              <a:gd name="adj" fmla="val 8603"/>
            </a:avLst>
          </a:prstGeom>
          <a:solidFill>
            <a:srgbClr val="FBFAF7"/>
          </a:solidFill>
          <a:ln w="6350">
            <a:solidFill>
              <a:srgbClr val="DAD6CC"/>
            </a:solidFill>
            <a:prstDash val="solid"/>
          </a:ln>
        </p:spPr>
      </p:sp>
      <p:sp>
        <p:nvSpPr>
          <p:cNvPr id="8" name="Text 6"/>
          <p:cNvSpPr/>
          <p:nvPr/>
        </p:nvSpPr>
        <p:spPr>
          <a:xfrm>
            <a:off x="6356350" y="1931591"/>
            <a:ext cx="49838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Courier New" pitchFamily="49" charset="0"/>
                <a:ea typeface="Courier New" pitchFamily="49" charset="-122"/>
                <a:cs typeface="Courier New" pitchFamily="49" charset="-120"/>
              </a:rPr>
              <a:t>ft_split</a:t>
            </a:r>
            <a:endParaRPr lang="en-US" sz="1600" dirty="0"/>
          </a:p>
        </p:txBody>
      </p:sp>
      <p:sp>
        <p:nvSpPr>
          <p:cNvPr id="9" name="Text 7"/>
          <p:cNvSpPr/>
          <p:nvPr/>
        </p:nvSpPr>
        <p:spPr>
          <a:xfrm>
            <a:off x="6356350" y="2251571"/>
            <a:ext cx="498386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Les séparateurs consécutifs ne créent pas de chaîne vide. En cas d’échec, on libère les chaînes déjà allouées, puis le tableau.</a:t>
            </a:r>
            <a:endParaRPr lang="en-US" sz="1300" dirty="0"/>
          </a:p>
        </p:txBody>
      </p:sp>
      <p:sp>
        <p:nvSpPr>
          <p:cNvPr id="10" name="Shape 8"/>
          <p:cNvSpPr/>
          <p:nvPr/>
        </p:nvSpPr>
        <p:spPr>
          <a:xfrm>
            <a:off x="815975" y="3053457"/>
            <a:ext cx="5200650" cy="1144091"/>
          </a:xfrm>
          <a:prstGeom prst="roundRect">
            <a:avLst>
              <a:gd name="adj" fmla="val 8603"/>
            </a:avLst>
          </a:prstGeom>
          <a:solidFill>
            <a:srgbClr val="FBFAF7"/>
          </a:solidFill>
          <a:ln w="6350">
            <a:solidFill>
              <a:srgbClr val="DAD6CC"/>
            </a:solidFill>
            <a:prstDash val="solid"/>
          </a:ln>
        </p:spPr>
      </p:sp>
      <p:sp>
        <p:nvSpPr>
          <p:cNvPr id="11" name="Text 9"/>
          <p:cNvSpPr/>
          <p:nvPr/>
        </p:nvSpPr>
        <p:spPr>
          <a:xfrm>
            <a:off x="996950" y="3234432"/>
            <a:ext cx="49838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Courier New" pitchFamily="49" charset="0"/>
                <a:ea typeface="Courier New" pitchFamily="49" charset="-122"/>
                <a:cs typeface="Courier New" pitchFamily="49" charset="-120"/>
              </a:rPr>
              <a:t>ft_itoa</a:t>
            </a:r>
            <a:endParaRPr lang="en-US" sz="1600" dirty="0"/>
          </a:p>
        </p:txBody>
      </p:sp>
      <p:sp>
        <p:nvSpPr>
          <p:cNvPr id="12" name="Text 10"/>
          <p:cNvSpPr/>
          <p:nvPr/>
        </p:nvSpPr>
        <p:spPr>
          <a:xfrm>
            <a:off x="996950" y="3554413"/>
            <a:ext cx="498386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Trois cas : INT_MIN, 0 et les négatifs. Pour INT_MIN, écrire -n en int déborde.</a:t>
            </a:r>
            <a:endParaRPr lang="en-US" sz="1300" dirty="0"/>
          </a:p>
        </p:txBody>
      </p:sp>
      <p:sp>
        <p:nvSpPr>
          <p:cNvPr id="13" name="Shape 11"/>
          <p:cNvSpPr/>
          <p:nvPr/>
        </p:nvSpPr>
        <p:spPr>
          <a:xfrm>
            <a:off x="6175375" y="3053457"/>
            <a:ext cx="5200650" cy="1144091"/>
          </a:xfrm>
          <a:prstGeom prst="roundRect">
            <a:avLst>
              <a:gd name="adj" fmla="val 8603"/>
            </a:avLst>
          </a:prstGeom>
          <a:solidFill>
            <a:srgbClr val="FBFAF7"/>
          </a:solidFill>
          <a:ln w="6350">
            <a:solidFill>
              <a:srgbClr val="DAD6CC"/>
            </a:solidFill>
            <a:prstDash val="solid"/>
          </a:ln>
        </p:spPr>
      </p:sp>
      <p:sp>
        <p:nvSpPr>
          <p:cNvPr id="14" name="Text 12"/>
          <p:cNvSpPr/>
          <p:nvPr/>
        </p:nvSpPr>
        <p:spPr>
          <a:xfrm>
            <a:off x="6356350" y="3234432"/>
            <a:ext cx="49838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F24"/>
                </a:solidFill>
                <a:latin typeface="Courier New" pitchFamily="49" charset="0"/>
                <a:ea typeface="Courier New" pitchFamily="49" charset="-122"/>
                <a:cs typeface="Courier New" pitchFamily="49" charset="-120"/>
              </a:rPr>
              <a:t>ft_putnbr_fd</a:t>
            </a:r>
            <a:endParaRPr lang="en-US" sz="1600" dirty="0"/>
          </a:p>
        </p:txBody>
      </p:sp>
      <p:sp>
        <p:nvSpPr>
          <p:cNvPr id="15" name="Text 13"/>
          <p:cNvSpPr/>
          <p:nvPr/>
        </p:nvSpPr>
        <p:spPr>
          <a:xfrm>
            <a:off x="6356350" y="3554413"/>
            <a:ext cx="498386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1F24"/>
                </a:solidFill>
                <a:latin typeface="Arial" pitchFamily="34" charset="0"/>
                <a:ea typeface="Arial" pitchFamily="34" charset="-122"/>
                <a:cs typeface="Arial" pitchFamily="34" charset="-120"/>
              </a:rPr>
              <a:t>Même piège que ft_itoa avec INT_MIN, et write comme seule fonction externe.</a:t>
            </a:r>
            <a:endParaRPr lang="en-US" sz="1300" dirty="0"/>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17" name="Text 1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11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PARTIE 3</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Les 9 fonctions de liste chaînée</a:t>
            </a:r>
            <a:endParaRPr lang="en-US" sz="3200" dirty="0"/>
          </a:p>
        </p:txBody>
      </p:sp>
      <p:sp>
        <p:nvSpPr>
          <p:cNvPr id="4" name="Text 2"/>
          <p:cNvSpPr/>
          <p:nvPr/>
        </p:nvSpPr>
        <p:spPr>
          <a:xfrm>
            <a:off x="812800" y="1747441"/>
            <a:ext cx="4826000" cy="1511002"/>
          </a:xfrm>
          <a:prstGeom prst="roundRect">
            <a:avLst>
              <a:gd name="adj" fmla="val 6724"/>
            </a:avLst>
          </a:prstGeom>
          <a:solidFill>
            <a:srgbClr val="1C222B"/>
          </a:solidFill>
          <a:ln/>
        </p:spPr>
        <p:txBody>
          <a:bodyPr wrap="none" lIns="173442" tIns="148042" rIns="40854" bIns="122642" rtlCol="0" anchor="t">
            <a:normAutofit/>
          </a:bodyPr>
          <a:lstStyle/>
          <a:p>
            <a:pPr algn="l" indent="0" marL="0">
              <a:lnSpc>
                <a:spcPts val="1820"/>
              </a:lnSpc>
              <a:buNone/>
            </a:pPr>
            <a:r>
              <a:rPr lang="en-US" sz="1300" dirty="0">
                <a:solidFill>
                  <a:srgbClr val="E9A23B"/>
                </a:solidFill>
                <a:latin typeface="Courier New" pitchFamily="49" charset="0"/>
                <a:ea typeface="Courier New" pitchFamily="49" charset="-122"/>
                <a:cs typeface="Courier New" pitchFamily="49" charset="-120"/>
              </a:rPr>
              <a:t>typedef</a:t>
            </a:r>
            <a:r>
              <a:rPr lang="en-US" sz="1300" dirty="0">
                <a:solidFill>
                  <a:srgbClr val="E8E6E1"/>
                </a:solidFill>
                <a:latin typeface="Courier New" pitchFamily="49" charset="0"/>
                <a:ea typeface="Courier New" pitchFamily="49" charset="-122"/>
                <a:cs typeface="Courier New" pitchFamily="49" charset="-120"/>
              </a:rPr>
              <a:t> </a:t>
            </a:r>
            <a:r>
              <a:rPr lang="en-US" sz="1300" dirty="0">
                <a:solidFill>
                  <a:srgbClr val="E9A23B"/>
                </a:solidFill>
                <a:latin typeface="Courier New" pitchFamily="49" charset="0"/>
                <a:ea typeface="Courier New" pitchFamily="49" charset="-122"/>
                <a:cs typeface="Courier New" pitchFamily="49" charset="-120"/>
              </a:rPr>
              <a:t>struct</a:t>
            </a:r>
            <a:r>
              <a:rPr lang="en-US" sz="1300" dirty="0">
                <a:solidFill>
                  <a:srgbClr val="E8E6E1"/>
                </a:solidFill>
                <a:latin typeface="Courier New" pitchFamily="49" charset="0"/>
                <a:ea typeface="Courier New" pitchFamily="49" charset="-122"/>
                <a:cs typeface="Courier New" pitchFamily="49" charset="-120"/>
              </a:rPr>
              <a:t> s_list</a:t>
            </a:r>
            <a:endParaRPr lang="en-US" sz="1300" dirty="0"/>
          </a:p>
          <a:p>
            <a:pPr algn="l" indent="0" marL="0">
              <a:lnSpc>
                <a:spcPts val="1820"/>
              </a:lnSpc>
              <a:buNone/>
            </a:pPr>
            <a:r>
              <a:rPr lang="en-US" sz="1300" dirty="0">
                <a:solidFill>
                  <a:srgbClr val="E8E6E1"/>
                </a:solidFill>
                <a:latin typeface="Courier New" pitchFamily="49" charset="0"/>
                <a:ea typeface="Courier New" pitchFamily="49" charset="-122"/>
                <a:cs typeface="Courier New" pitchFamily="49" charset="-120"/>
              </a:rPr>
              <a:t>{</a:t>
            </a:r>
            <a:endParaRPr lang="en-US" sz="1300" dirty="0"/>
          </a:p>
          <a:p>
            <a:pPr algn="l" indent="0" marL="0">
              <a:lnSpc>
                <a:spcPts val="1820"/>
              </a:lnSpc>
              <a:buNone/>
            </a:pPr>
            <a:r>
              <a:rPr lang="en-US" sz="1300" dirty="0">
                <a:solidFill>
                  <a:srgbClr val="E8E6E1"/>
                </a:solidFill>
                <a:latin typeface="Courier New" pitchFamily="49" charset="0"/>
                <a:ea typeface="Courier New" pitchFamily="49" charset="-122"/>
                <a:cs typeface="Courier New" pitchFamily="49" charset="-120"/>
              </a:rPr>
              <a:t>    </a:t>
            </a:r>
            <a:r>
              <a:rPr lang="en-US" sz="1300" dirty="0">
                <a:solidFill>
                  <a:srgbClr val="6FC7C2"/>
                </a:solidFill>
                <a:latin typeface="Courier New" pitchFamily="49" charset="0"/>
                <a:ea typeface="Courier New" pitchFamily="49" charset="-122"/>
                <a:cs typeface="Courier New" pitchFamily="49" charset="-120"/>
              </a:rPr>
              <a:t>void</a:t>
            </a:r>
            <a:r>
              <a:rPr lang="en-US" sz="1300" dirty="0">
                <a:solidFill>
                  <a:srgbClr val="E8E6E1"/>
                </a:solidFill>
                <a:latin typeface="Courier New" pitchFamily="49" charset="0"/>
                <a:ea typeface="Courier New" pitchFamily="49" charset="-122"/>
                <a:cs typeface="Courier New" pitchFamily="49" charset="-120"/>
              </a:rPr>
              <a:t> *content;</a:t>
            </a:r>
            <a:endParaRPr lang="en-US" sz="1300" dirty="0"/>
          </a:p>
          <a:p>
            <a:pPr algn="l" indent="0" marL="0">
              <a:lnSpc>
                <a:spcPts val="1820"/>
              </a:lnSpc>
              <a:buNone/>
            </a:pPr>
            <a:r>
              <a:rPr lang="en-US" sz="1300" dirty="0">
                <a:solidFill>
                  <a:srgbClr val="E8E6E1"/>
                </a:solidFill>
                <a:latin typeface="Courier New" pitchFamily="49" charset="0"/>
                <a:ea typeface="Courier New" pitchFamily="49" charset="-122"/>
                <a:cs typeface="Courier New" pitchFamily="49" charset="-120"/>
              </a:rPr>
              <a:t>    </a:t>
            </a:r>
            <a:r>
              <a:rPr lang="en-US" sz="1300" dirty="0">
                <a:solidFill>
                  <a:srgbClr val="E9A23B"/>
                </a:solidFill>
                <a:latin typeface="Courier New" pitchFamily="49" charset="0"/>
                <a:ea typeface="Courier New" pitchFamily="49" charset="-122"/>
                <a:cs typeface="Courier New" pitchFamily="49" charset="-120"/>
              </a:rPr>
              <a:t>struct</a:t>
            </a:r>
            <a:r>
              <a:rPr lang="en-US" sz="1300" dirty="0">
                <a:solidFill>
                  <a:srgbClr val="E8E6E1"/>
                </a:solidFill>
                <a:latin typeface="Courier New" pitchFamily="49" charset="0"/>
                <a:ea typeface="Courier New" pitchFamily="49" charset="-122"/>
                <a:cs typeface="Courier New" pitchFamily="49" charset="-120"/>
              </a:rPr>
              <a:t> s_list *next;</a:t>
            </a:r>
            <a:endParaRPr lang="en-US" sz="1300" dirty="0"/>
          </a:p>
          <a:p>
            <a:pPr algn="l" indent="0" marL="0">
              <a:lnSpc>
                <a:spcPts val="1820"/>
              </a:lnSpc>
              <a:buNone/>
            </a:pPr>
            <a:r>
              <a:rPr lang="en-US" sz="1300" dirty="0">
                <a:solidFill>
                  <a:srgbClr val="E8E6E1"/>
                </a:solidFill>
                <a:latin typeface="Courier New" pitchFamily="49" charset="0"/>
                <a:ea typeface="Courier New" pitchFamily="49" charset="-122"/>
                <a:cs typeface="Courier New" pitchFamily="49" charset="-120"/>
              </a:rPr>
              <a:t>} t_list;</a:t>
            </a:r>
            <a:endParaRPr lang="en-US" sz="1300" dirty="0"/>
          </a:p>
        </p:txBody>
      </p:sp>
      <p:sp>
        <p:nvSpPr>
          <p:cNvPr id="5" name="Text 3"/>
          <p:cNvSpPr/>
          <p:nvPr/>
        </p:nvSpPr>
        <p:spPr>
          <a:xfrm>
            <a:off x="5943600" y="1747441"/>
            <a:ext cx="559866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24"/>
                </a:solidFill>
                <a:latin typeface="Arial" pitchFamily="34" charset="0"/>
                <a:ea typeface="Arial" pitchFamily="34" charset="-122"/>
                <a:cs typeface="Arial" pitchFamily="34" charset="-120"/>
              </a:rPr>
              <a:t>Créer et ajouter.</a:t>
            </a:r>
            <a:r>
              <a:rPr lang="en-US" sz="1600" dirty="0">
                <a:solidFill>
                  <a:srgbClr val="1B1F24"/>
                </a:solidFill>
                <a:latin typeface="Arial" pitchFamily="34" charset="0"/>
                <a:ea typeface="Arial" pitchFamily="34" charset="-122"/>
                <a:cs typeface="Arial" pitchFamily="34" charset="-120"/>
              </a:rPr>
              <a:t> ft_lstnew, ft_lstadd_front, ft_lstadd_back</a:t>
            </a:r>
            <a:endParaRPr lang="en-US" sz="1600" dirty="0"/>
          </a:p>
        </p:txBody>
      </p:sp>
      <p:sp>
        <p:nvSpPr>
          <p:cNvPr id="6" name="Text 4"/>
          <p:cNvSpPr/>
          <p:nvPr/>
        </p:nvSpPr>
        <p:spPr>
          <a:xfrm>
            <a:off x="5943600" y="2146201"/>
            <a:ext cx="559866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24"/>
                </a:solidFill>
                <a:latin typeface="Arial" pitchFamily="34" charset="0"/>
                <a:ea typeface="Arial" pitchFamily="34" charset="-122"/>
                <a:cs typeface="Arial" pitchFamily="34" charset="-120"/>
              </a:rPr>
              <a:t>Parcourir.</a:t>
            </a:r>
            <a:r>
              <a:rPr lang="en-US" sz="1600" dirty="0">
                <a:solidFill>
                  <a:srgbClr val="1B1F24"/>
                </a:solidFill>
                <a:latin typeface="Arial" pitchFamily="34" charset="0"/>
                <a:ea typeface="Arial" pitchFamily="34" charset="-122"/>
                <a:cs typeface="Arial" pitchFamily="34" charset="-120"/>
              </a:rPr>
              <a:t> ft_lstsize, ft_lstlast, ft_lstiter</a:t>
            </a:r>
            <a:endParaRPr lang="en-US" sz="1600" dirty="0"/>
          </a:p>
        </p:txBody>
      </p:sp>
      <p:sp>
        <p:nvSpPr>
          <p:cNvPr id="7" name="Text 5"/>
          <p:cNvSpPr/>
          <p:nvPr/>
        </p:nvSpPr>
        <p:spPr>
          <a:xfrm>
            <a:off x="5943600" y="2544961"/>
            <a:ext cx="559866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24"/>
                </a:solidFill>
                <a:latin typeface="Arial" pitchFamily="34" charset="0"/>
                <a:ea typeface="Arial" pitchFamily="34" charset="-122"/>
                <a:cs typeface="Arial" pitchFamily="34" charset="-120"/>
              </a:rPr>
              <a:t>Libérer et transformer.</a:t>
            </a:r>
            <a:r>
              <a:rPr lang="en-US" sz="1600" dirty="0">
                <a:solidFill>
                  <a:srgbClr val="1B1F24"/>
                </a:solidFill>
                <a:latin typeface="Arial" pitchFamily="34" charset="0"/>
                <a:ea typeface="Arial" pitchFamily="34" charset="-122"/>
                <a:cs typeface="Arial" pitchFamily="34" charset="-120"/>
              </a:rPr>
              <a:t> ft_lstdelone, ft_lstclear, ft_lstmap</a:t>
            </a:r>
            <a:endParaRPr lang="en-US" sz="1600" dirty="0"/>
          </a:p>
        </p:txBody>
      </p:sp>
      <p:sp>
        <p:nvSpPr>
          <p:cNvPr id="8" name="Text 6"/>
          <p:cNvSpPr/>
          <p:nvPr/>
        </p:nvSpPr>
        <p:spPr>
          <a:xfrm>
            <a:off x="5943600" y="2943721"/>
            <a:ext cx="5598668"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24"/>
                </a:solidFill>
                <a:latin typeface="Arial" pitchFamily="34" charset="0"/>
                <a:ea typeface="Arial" pitchFamily="34" charset="-122"/>
                <a:cs typeface="Arial" pitchFamily="34" charset="-120"/>
              </a:rPr>
              <a:t>Deux idées clés.</a:t>
            </a:r>
            <a:r>
              <a:rPr lang="en-US" sz="1600" dirty="0">
                <a:solidFill>
                  <a:srgbClr val="1B1F24"/>
                </a:solidFill>
                <a:latin typeface="Arial" pitchFamily="34" charset="0"/>
                <a:ea typeface="Arial" pitchFamily="34" charset="-122"/>
                <a:cs typeface="Arial" pitchFamily="34" charset="-120"/>
              </a:rPr>
              <a:t> t_list ** quand la tête peut changer, et une fonction del pour libérer un contenu de type inconnu.</a:t>
            </a:r>
            <a:endParaRPr lang="en-US" sz="1600" dirty="0"/>
          </a:p>
        </p:txBody>
      </p:sp>
      <p:sp>
        <p:nvSpPr>
          <p:cNvPr id="9" name="Text 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10" name="Text 8"/>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12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6B"/>
                </a:solidFill>
                <a:latin typeface="Arial" pitchFamily="34" charset="0"/>
                <a:ea typeface="Arial" pitchFamily="34" charset="-122"/>
                <a:cs typeface="Arial" pitchFamily="34" charset="-120"/>
              </a:rPr>
              <a:t>RENDRE</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1F24"/>
                </a:solidFill>
                <a:latin typeface="Arial" pitchFamily="34" charset="0"/>
                <a:ea typeface="Arial" pitchFamily="34" charset="-122"/>
                <a:cs typeface="Arial" pitchFamily="34" charset="-120"/>
              </a:rPr>
              <a:t>Un Makefile conforme au sujet</a:t>
            </a:r>
            <a:endParaRPr lang="en-US" sz="3200" dirty="0"/>
          </a:p>
        </p:txBody>
      </p:sp>
      <p:sp>
        <p:nvSpPr>
          <p:cNvPr id="4" name="Text 2"/>
          <p:cNvSpPr/>
          <p:nvPr/>
        </p:nvSpPr>
        <p:spPr>
          <a:xfrm>
            <a:off x="812800" y="1747441"/>
            <a:ext cx="5181600" cy="2930128"/>
          </a:xfrm>
          <a:prstGeom prst="roundRect">
            <a:avLst>
              <a:gd name="adj" fmla="val 3467"/>
            </a:avLst>
          </a:prstGeom>
          <a:solidFill>
            <a:srgbClr val="1C222B"/>
          </a:solidFill>
          <a:ln/>
        </p:spPr>
        <p:txBody>
          <a:bodyPr wrap="none" lIns="173442" tIns="148042" rIns="30186" bIns="122642" rtlCol="0" anchor="t">
            <a:normAutofit/>
          </a:bodyPr>
          <a:lstStyle/>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NAME = libft.a</a:t>
            </a: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CC = cc</a:t>
            </a: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CFLAGS = -Wall -Wextra -Werror</a:t>
            </a: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SRCS = ft_isalpha.c ft_strlen.c ft_split.c</a:t>
            </a: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OBJS = $(SRCS:.c=.o)</a:t>
            </a:r>
            <a:endParaRPr lang="en-US" sz="1200" dirty="0"/>
          </a:p>
          <a:p>
            <a:pPr algn="l" indent="0" marL="0">
              <a:lnSpc>
                <a:spcPts val="1560"/>
              </a:lnSpc>
              <a:buNone/>
            </a:pP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all: $(NAME)</a:t>
            </a:r>
            <a:endParaRPr lang="en-US" sz="1200" dirty="0"/>
          </a:p>
          <a:p>
            <a:pPr algn="l" indent="0" marL="0">
              <a:lnSpc>
                <a:spcPts val="1560"/>
              </a:lnSpc>
              <a:buNone/>
            </a:pP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$(NAME): $(OBJS)</a:t>
            </a: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    ar rcs $(NAME) $(OBJS)</a:t>
            </a:r>
            <a:endParaRPr lang="en-US" sz="1200" dirty="0"/>
          </a:p>
          <a:p>
            <a:pPr algn="l" indent="0" marL="0">
              <a:lnSpc>
                <a:spcPts val="1560"/>
              </a:lnSpc>
              <a:buNone/>
            </a:pP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%.o: %.c libft.h</a:t>
            </a: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    $(CC) $(CFLAGS) -c $&lt; -o $@</a:t>
            </a:r>
            <a:endParaRPr lang="en-US" sz="1200" dirty="0"/>
          </a:p>
        </p:txBody>
      </p:sp>
      <p:sp>
        <p:nvSpPr>
          <p:cNvPr id="5" name="Text 3"/>
          <p:cNvSpPr/>
          <p:nvPr/>
        </p:nvSpPr>
        <p:spPr>
          <a:xfrm>
            <a:off x="6197600" y="1747441"/>
            <a:ext cx="5181600" cy="2137966"/>
          </a:xfrm>
          <a:prstGeom prst="roundRect">
            <a:avLst>
              <a:gd name="adj" fmla="val 4752"/>
            </a:avLst>
          </a:prstGeom>
          <a:solidFill>
            <a:srgbClr val="1C222B"/>
          </a:solidFill>
          <a:ln/>
        </p:spPr>
        <p:txBody>
          <a:bodyPr wrap="none" lIns="173442" tIns="148042" rIns="30186" bIns="122642" rtlCol="0" anchor="t">
            <a:normAutofit/>
          </a:bodyPr>
          <a:lstStyle/>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clean:</a:t>
            </a: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    rm -f $(OBJS)</a:t>
            </a:r>
            <a:endParaRPr lang="en-US" sz="1200" dirty="0"/>
          </a:p>
          <a:p>
            <a:pPr algn="l" indent="0" marL="0">
              <a:lnSpc>
                <a:spcPts val="1560"/>
              </a:lnSpc>
              <a:buNone/>
            </a:pP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fclean: clean</a:t>
            </a: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    rm -f $(NAME)</a:t>
            </a:r>
            <a:endParaRPr lang="en-US" sz="1200" dirty="0"/>
          </a:p>
          <a:p>
            <a:pPr algn="l" indent="0" marL="0">
              <a:lnSpc>
                <a:spcPts val="1560"/>
              </a:lnSpc>
              <a:buNone/>
            </a:pP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re: fclean all</a:t>
            </a:r>
            <a:endParaRPr lang="en-US" sz="1200" dirty="0"/>
          </a:p>
          <a:p>
            <a:pPr algn="l" indent="0" marL="0">
              <a:lnSpc>
                <a:spcPts val="1560"/>
              </a:lnSpc>
              <a:buNone/>
            </a:pPr>
            <a:endParaRPr lang="en-US" sz="1200" dirty="0"/>
          </a:p>
          <a:p>
            <a:pPr algn="l" indent="0" marL="0">
              <a:lnSpc>
                <a:spcPts val="1560"/>
              </a:lnSpc>
              <a:buNone/>
            </a:pPr>
            <a:r>
              <a:rPr lang="en-US" sz="1200" dirty="0">
                <a:solidFill>
                  <a:srgbClr val="E8E6E1"/>
                </a:solidFill>
                <a:latin typeface="Courier New" pitchFamily="49" charset="0"/>
                <a:ea typeface="Courier New" pitchFamily="49" charset="-122"/>
                <a:cs typeface="Courier New" pitchFamily="49" charset="-120"/>
              </a:rPr>
              <a:t>.PHONY: all clean fclean re</a:t>
            </a:r>
            <a:endParaRPr lang="en-US" sz="1200" dirty="0"/>
          </a:p>
        </p:txBody>
      </p:sp>
      <p:sp>
        <p:nvSpPr>
          <p:cNvPr id="6" name="Text 4"/>
          <p:cNvSpPr/>
          <p:nvPr/>
        </p:nvSpPr>
        <p:spPr>
          <a:xfrm>
            <a:off x="6197600" y="4012406"/>
            <a:ext cx="533704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1F24"/>
                </a:solidFill>
                <a:latin typeface="Arial" pitchFamily="34" charset="0"/>
                <a:ea typeface="Arial" pitchFamily="34" charset="-122"/>
                <a:cs typeface="Arial" pitchFamily="34" charset="-120"/>
              </a:rPr>
              <a:t>SRCS</a:t>
            </a:r>
            <a:r>
              <a:rPr lang="en-US" sz="1300" dirty="0">
                <a:solidFill>
                  <a:srgbClr val="1B1F24"/>
                </a:solidFill>
                <a:latin typeface="Arial" pitchFamily="34" charset="0"/>
                <a:ea typeface="Arial" pitchFamily="34" charset="-122"/>
                <a:cs typeface="Arial" pitchFamily="34" charset="-120"/>
              </a:rPr>
              <a:t> doit lister tous tes fichiers ft_*.c.</a:t>
            </a:r>
            <a:endParaRPr lang="en-US" sz="1300" dirty="0"/>
          </a:p>
        </p:txBody>
      </p:sp>
      <p:sp>
        <p:nvSpPr>
          <p:cNvPr id="7" name="Text 5"/>
          <p:cNvSpPr/>
          <p:nvPr/>
        </p:nvSpPr>
        <p:spPr>
          <a:xfrm>
            <a:off x="6197600" y="4370487"/>
            <a:ext cx="533704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1F24"/>
                </a:solidFill>
                <a:latin typeface="Arial" pitchFamily="34" charset="0"/>
                <a:ea typeface="Arial" pitchFamily="34" charset="-122"/>
                <a:cs typeface="Arial" pitchFamily="34" charset="-120"/>
              </a:rPr>
              <a:t>Les .o</a:t>
            </a:r>
            <a:r>
              <a:rPr lang="en-US" sz="1300" dirty="0">
                <a:solidFill>
                  <a:srgbClr val="1B1F24"/>
                </a:solidFill>
                <a:latin typeface="Arial" pitchFamily="34" charset="0"/>
                <a:ea typeface="Arial" pitchFamily="34" charset="-122"/>
                <a:cs typeface="Arial" pitchFamily="34" charset="-120"/>
              </a:rPr>
              <a:t> dépendent du header : pas de relink inutile.</a:t>
            </a:r>
            <a:endParaRPr lang="en-US" sz="1300" dirty="0"/>
          </a:p>
        </p:txBody>
      </p:sp>
      <p:sp>
        <p:nvSpPr>
          <p:cNvPr id="8" name="Text 6"/>
          <p:cNvSpPr/>
          <p:nvPr/>
        </p:nvSpPr>
        <p:spPr>
          <a:xfrm>
            <a:off x="6197600" y="4728567"/>
            <a:ext cx="533704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1F24"/>
                </a:solidFill>
                <a:latin typeface="Arial" pitchFamily="34" charset="0"/>
                <a:ea typeface="Arial" pitchFamily="34" charset="-122"/>
                <a:cs typeface="Arial" pitchFamily="34" charset="-120"/>
              </a:rPr>
              <a:t>Chaque recette</a:t>
            </a:r>
            <a:r>
              <a:rPr lang="en-US" sz="1300" dirty="0">
                <a:solidFill>
                  <a:srgbClr val="1B1F24"/>
                </a:solidFill>
                <a:latin typeface="Arial" pitchFamily="34" charset="0"/>
                <a:ea typeface="Arial" pitchFamily="34" charset="-122"/>
                <a:cs typeface="Arial" pitchFamily="34" charset="-120"/>
              </a:rPr>
              <a:t> commence par une tabulation, pas des espaces.</a:t>
            </a:r>
            <a:endParaRPr lang="en-US" sz="1300" dirty="0"/>
          </a:p>
        </p:txBody>
      </p:sp>
      <p:sp>
        <p:nvSpPr>
          <p:cNvPr id="9" name="Text 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Arial" pitchFamily="34" charset="0"/>
                <a:ea typeface="Arial" pitchFamily="34" charset="-122"/>
                <a:cs typeface="Arial" pitchFamily="34" charset="-120"/>
              </a:rPr>
              <a:t>Libft · Présentation du projet</a:t>
            </a:r>
            <a:endParaRPr lang="en-US" sz="1200" dirty="0"/>
          </a:p>
        </p:txBody>
      </p:sp>
      <p:sp>
        <p:nvSpPr>
          <p:cNvPr id="10" name="Text 8"/>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Arial" pitchFamily="34" charset="0"/>
                <a:ea typeface="Arial" pitchFamily="34" charset="-122"/>
                <a:cs typeface="Arial" pitchFamily="34" charset="-120"/>
              </a:rPr>
              <a:t>13 / 17</a:t>
            </a:r>
            <a:endParaRPr lang="en-US" sz="1200" dirty="0"/>
          </a:p>
        </p:txBody>
      </p:sp>
    </p:spTree>
  </p:cSld>
  <p:clrMapOvr>
    <a:masterClrMapping/>
  </p:clrMapOvr>
</p:sld>
</file>

<file path=ppt/theme/theme1.xml><?xml version="1.0" encoding="utf-8"?>
<a:theme xmlns:a="http://schemas.openxmlformats.org/drawingml/2006/main" name="Libft : présentation du projet">
  <a:themeElements>
    <a:clrScheme name="Libft : présentation du projet">
      <a:dk1>
        <a:srgbClr val="1B1F24"/>
      </a:dk1>
      <a:lt1>
        <a:srgbClr val="F5F3EE"/>
      </a:lt1>
      <a:dk2>
        <a:srgbClr val="525457"/>
      </a:dk2>
      <a:lt2>
        <a:srgbClr val="DFDEDA"/>
      </a:lt2>
      <a:accent1>
        <a:srgbClr val="1F6F6B"/>
      </a:accent1>
      <a:accent2>
        <a:srgbClr val="E9A23B"/>
      </a:accent2>
      <a:accent3>
        <a:srgbClr val="5B6470"/>
      </a:accent3>
      <a:accent4>
        <a:srgbClr val="9AA4B1"/>
      </a:accent4>
      <a:accent5>
        <a:srgbClr val="9AA0A6"/>
      </a:accent5>
      <a:accent6>
        <a:srgbClr val="727475"/>
      </a:accent6>
      <a:hlink>
        <a:srgbClr val="0563C1"/>
      </a:hlink>
      <a:folHlink>
        <a:srgbClr val="954F72"/>
      </a:folHlink>
    </a:clrScheme>
    <a:fontScheme name="Libft : présentation du proje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Libft : présentation du projet</dc:title>
  <dc:subject/>
  <dc:creator/>
  <cp:lastModifiedBy/>
  <cp:revision>1</cp:revision>
  <dcterms:created xsi:type="dcterms:W3CDTF">2026-10-21T12:15:53Z</dcterms:created>
  <dcterms:modified xsi:type="dcterms:W3CDTF">2026-10-21T12:15:53Z</dcterms:modified>
</cp:coreProperties>
</file>